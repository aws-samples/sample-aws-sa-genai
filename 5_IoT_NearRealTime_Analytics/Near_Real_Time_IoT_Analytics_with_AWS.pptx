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3"/>
    <p:restoredTop sz="94610"/>
  </p:normalViewPr>
  <p:slideViewPr>
    <p:cSldViewPr snapToGrid="0" snapToObjects="1">
      <p:cViewPr varScale="1">
        <p:scale>
          <a:sx n="159" d="100"/>
          <a:sy n="159"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0070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walk you through a fully serverless architecture for near real-time IoT analytics on AWS. This pattern leverages the newest AWS capabilities—specifically Amazon QuickSight’s Direct Query with S3 Tables—to eliminate traditional data warehouse complexity and deliver sensor-to-insight latency measured in seconds, not hours. The key innovation here is the elimination of intermediate query engines like Athena or Redshift between your data lake and your analytics layer.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is straightforward: IoT generates massive data volumes that need to be analyzed in near real-time. Traditional architectures add multiple intermediate layers—ETL pipelines, staging areas, data warehouses—each adding latency and operational complexity. Organizations doing fleet tracking, predictive maintenance, and anomaly detection need sub-minute insights. The question is: how do we get from raw sensor data to actionable insight with minimal latency and minimal infrastructure?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architecture. The critical innovation is in the analytics layer: Amazon QuickSight now connects directly to S3 Tables using a native connector launched in May 2026. This eliminates the need for Amazon Athena as an intermediate query layer, reducing both latency and cost. Each service auto-scales independently, so you pay only for what you use. The secondary path shows customer master data in S3 being cataloged via AWS Glue for enrichment and joining with streaming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ingestion layers. AWS IoT Core handles secure device connectivity via MQTT or HTTPS. Its Rules Engine uses SQL-like syntax to filter and route messages—for example, SELECT * FROM iot/telemetry/# sends all telemetry to Kinesis. We add a dead-letter queue action for resilience. Kinesis Data Streams provides the scalable buffer handling 100K+ messages per second. Then Amazon Data Firehose reads from Kinesis and performs zero-code conversion from JSON to Apache Iceberg format, delivering directly to S3 Tables with configurable buffering between 60-900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Tables is the game-changer in this architecture. It delivers managed Apache Iceberg tables with 10x more transactions per second—55,000 reads and 35,000 writes per second—compared to self-managed Iceberg. The automatic maintenance is critical for streaming IoT: compaction runs in the background merging small files, snapshot expiration cleans old versions, and orphan file removal keeps storage optimized. All without a single line of maintenance code. Schema evolution means when you add new sensor types, existing queries continue working.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analytics layer is where the newest innovation lives. Launched in May 2026, Amazon QuickSight now natively supports S3 Tables as a data source. Previously, you needed Athena as a query intermediary. Now QuickSight connects directly to your S3 table bucket, selects the Iceberg table, and in Direct Query mode every visualization query hits live data. This means your dashboards always show the freshest data without manual SPICE refreshes. Plus, the AI-powered chat agent lets business users ask questions in natural language—like "Show me sensor alerts from the last 5 minutes"—directly against the live IoT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table highlights the fundamental shift. Traditional IoT analytics requires intermediate query engines, managed clusters, manual optimization, and custom ML pipelines. Our pattern eliminates all of that. The latency drops from minutes-to-hours to seconds-to-minutes. The cost model shifts from paying for idle clusters to pure pay-per-use. And AI-powered insights come built-in through QuickSight’s chat agent rather than requiring a separate ML pipeline. The net effect is dramatically simpler operations and faster time-to-value.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demo, we’ll simulate IoT devices sending GPS and sensor telemetry. The audience will see data flow through Kinesis in near real-time, land in S3 Tables as Iceberg records, and then appear in QuickSight dashboards without any manual refresh. The highlight moment is when we ask the QuickSight chat agent a natural language question like "Show me sensor alerts from the last 5 minutes" and it returns live results. We’ll also show a geospatial fleet tracking map updating as vehicles move.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critical best practices for production deployments. First, buffer tuning: the Firehose buffer interval directly controls your latency floor. Set it to 60 seconds minimum for near real-time demos, but consider increasing it for non-critical data paths to reduce costs. Second, partitioning: always partition IoT time-series data by date or hour—this enables S3 Tables and QuickSight to prune partitions efficiently. Third, security: chain IoT Core authentication through to Lake Formation for end-to-end governance with column and row-level permissions. Fourth, monitoring: set up CloudWatch alarms on Firehose delivery failures and Kinesis iterator age—these are your early warning signals for pipeline issues.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here are your concrete next steps. The implementation guide we’ve prepared covers every configuration detail. I recommend starting with a proof-of-concept in your target region—remember that QuickSight and S3 Tables must be co-located in the same region. Define your IoT payload schema upfront to ensure Firehose can correctly convert to Iceberg format. Then run a full end-to-end validation with simulated traffic before connecting real devices. The three blog posts listed are your primary references for detailed implementation guidance.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B2D"/>
        </a:solidFill>
        <a:effectLst/>
      </p:bgPr>
    </p:bg>
    <p:spTree>
      <p:nvGrpSpPr>
        <p:cNvPr id="1" name=""/>
        <p:cNvGrpSpPr/>
        <p:nvPr/>
      </p:nvGrpSpPr>
      <p:grpSpPr>
        <a:xfrm>
          <a:off x="0" y="0"/>
          <a:ext cx="0" cy="0"/>
          <a:chOff x="0" y="0"/>
          <a:chExt cx="0" cy="0"/>
        </a:xfrm>
      </p:grpSpPr>
      <p:sp>
        <p:nvSpPr>
          <p:cNvPr id="2" name="Shape 0"/>
          <p:cNvSpPr/>
          <p:nvPr/>
        </p:nvSpPr>
        <p:spPr>
          <a:xfrm>
            <a:off x="7772400" y="-1828800"/>
            <a:ext cx="6400800" cy="6400800"/>
          </a:xfrm>
          <a:prstGeom prst="ellipse">
            <a:avLst/>
          </a:prstGeom>
          <a:solidFill>
            <a:srgbClr val="6B0AC9"/>
          </a:solidFill>
          <a:ln/>
        </p:spPr>
        <p:txBody>
          <a:bodyPr/>
          <a:lstStyle/>
          <a:p>
            <a:endParaRPr lang="en-US"/>
          </a:p>
        </p:txBody>
      </p:sp>
      <p:sp>
        <p:nvSpPr>
          <p:cNvPr id="3" name="Shape 1"/>
          <p:cNvSpPr/>
          <p:nvPr/>
        </p:nvSpPr>
        <p:spPr>
          <a:xfrm>
            <a:off x="8686800" y="-1371600"/>
            <a:ext cx="4572000" cy="4572000"/>
          </a:xfrm>
          <a:prstGeom prst="ellipse">
            <a:avLst/>
          </a:prstGeom>
          <a:solidFill>
            <a:srgbClr val="4A07A0"/>
          </a:solidFill>
          <a:ln/>
        </p:spPr>
        <p:txBody>
          <a:bodyPr/>
          <a:lstStyle/>
          <a:p>
            <a:endParaRPr lang="en-US"/>
          </a:p>
        </p:txBody>
      </p:sp>
      <p:sp>
        <p:nvSpPr>
          <p:cNvPr id="4" name="Text 2"/>
          <p:cNvSpPr/>
          <p:nvPr/>
        </p:nvSpPr>
        <p:spPr>
          <a:xfrm>
            <a:off x="731520" y="1645920"/>
            <a:ext cx="7315200" cy="640080"/>
          </a:xfrm>
          <a:prstGeom prst="rect">
            <a:avLst/>
          </a:prstGeom>
          <a:noFill/>
          <a:ln/>
        </p:spPr>
        <p:txBody>
          <a:bodyPr wrap="square" rtlCol="0" anchor="ctr"/>
          <a:lstStyle/>
          <a:p>
            <a:pPr marL="0" indent="0" algn="l">
              <a:buNone/>
            </a:pPr>
            <a:r>
              <a:rPr lang="en-US" sz="4200" kern="0" spc="300" dirty="0">
                <a:solidFill>
                  <a:srgbClr val="FFFFFF"/>
                </a:solidFill>
                <a:latin typeface="Segoe UI" pitchFamily="34" charset="0"/>
                <a:ea typeface="Segoe UI" pitchFamily="34" charset="-122"/>
                <a:cs typeface="Segoe UI" pitchFamily="34" charset="-120"/>
              </a:rPr>
              <a:t>NEAR REAL-TIME</a:t>
            </a:r>
            <a:endParaRPr lang="en-US" sz="4200" dirty="0"/>
          </a:p>
        </p:txBody>
      </p:sp>
      <p:sp>
        <p:nvSpPr>
          <p:cNvPr id="5" name="Text 3"/>
          <p:cNvSpPr/>
          <p:nvPr/>
        </p:nvSpPr>
        <p:spPr>
          <a:xfrm>
            <a:off x="731520" y="2286000"/>
            <a:ext cx="7315200" cy="731520"/>
          </a:xfrm>
          <a:prstGeom prst="rect">
            <a:avLst/>
          </a:prstGeom>
          <a:noFill/>
          <a:ln/>
        </p:spPr>
        <p:txBody>
          <a:bodyPr wrap="square" rtlCol="0" anchor="ctr"/>
          <a:lstStyle/>
          <a:p>
            <a:pPr marL="0" indent="0" algn="l">
              <a:buNone/>
            </a:pPr>
            <a:r>
              <a:rPr lang="en-US" sz="4400" b="1" dirty="0">
                <a:solidFill>
                  <a:srgbClr val="FFFFFF"/>
                </a:solidFill>
                <a:latin typeface="Segoe UI" pitchFamily="34" charset="0"/>
                <a:ea typeface="Segoe UI" pitchFamily="34" charset="-122"/>
                <a:cs typeface="Segoe UI" pitchFamily="34" charset="-120"/>
              </a:rPr>
              <a:t>IoT Analytics with AWS</a:t>
            </a:r>
            <a:endParaRPr lang="en-US" sz="4400" dirty="0"/>
          </a:p>
        </p:txBody>
      </p:sp>
      <p:sp>
        <p:nvSpPr>
          <p:cNvPr id="6" name="Text 4"/>
          <p:cNvSpPr/>
          <p:nvPr/>
        </p:nvSpPr>
        <p:spPr>
          <a:xfrm>
            <a:off x="731520" y="3200400"/>
            <a:ext cx="7315200" cy="457200"/>
          </a:xfrm>
          <a:prstGeom prst="rect">
            <a:avLst/>
          </a:prstGeom>
          <a:noFill/>
          <a:ln/>
        </p:spPr>
        <p:txBody>
          <a:bodyPr wrap="square" rtlCol="0" anchor="ctr"/>
          <a:lstStyle/>
          <a:p>
            <a:pPr marL="0" indent="0" algn="l">
              <a:buNone/>
            </a:pPr>
            <a:r>
              <a:rPr lang="en-US" sz="1600" dirty="0">
                <a:solidFill>
                  <a:srgbClr val="B8B8D0"/>
                </a:solidFill>
                <a:latin typeface="Segoe UI Light" pitchFamily="34" charset="0"/>
                <a:ea typeface="Segoe UI Light" pitchFamily="34" charset="-122"/>
                <a:cs typeface="Segoe UI Light" pitchFamily="34" charset="-120"/>
              </a:rPr>
              <a:t>From Sensor to Insight in Seconds — No Data Warehouse Required</a:t>
            </a:r>
            <a:endParaRPr lang="en-US" sz="1600" dirty="0"/>
          </a:p>
        </p:txBody>
      </p:sp>
      <p:sp>
        <p:nvSpPr>
          <p:cNvPr id="7" name="Text 5"/>
          <p:cNvSpPr/>
          <p:nvPr/>
        </p:nvSpPr>
        <p:spPr>
          <a:xfrm>
            <a:off x="731520" y="4023360"/>
            <a:ext cx="8229600" cy="365760"/>
          </a:xfrm>
          <a:prstGeom prst="rect">
            <a:avLst/>
          </a:prstGeom>
          <a:noFill/>
          <a:ln/>
        </p:spPr>
        <p:txBody>
          <a:bodyPr wrap="square" rtlCol="0" anchor="ctr"/>
          <a:lstStyle/>
          <a:p>
            <a:pPr marL="0" indent="0" algn="l">
              <a:buNone/>
            </a:pPr>
            <a:r>
              <a:rPr lang="en-US" sz="1300" dirty="0">
                <a:solidFill>
                  <a:srgbClr val="FF2D8A"/>
                </a:solidFill>
                <a:latin typeface="Consolas" pitchFamily="34" charset="0"/>
                <a:ea typeface="Consolas" pitchFamily="34" charset="-122"/>
                <a:cs typeface="Consolas" pitchFamily="34" charset="-120"/>
              </a:rPr>
              <a:t>AWS IoT Core  →  Kinesis  →  S3 Tables  →  QuickSight Direct Query</a:t>
            </a:r>
            <a:endParaRPr lang="en-US" sz="1300" dirty="0"/>
          </a:p>
        </p:txBody>
      </p:sp>
      <p:sp>
        <p:nvSpPr>
          <p:cNvPr id="8" name="Shape 6"/>
          <p:cNvSpPr/>
          <p:nvPr/>
        </p:nvSpPr>
        <p:spPr>
          <a:xfrm>
            <a:off x="731520" y="4754880"/>
            <a:ext cx="3200400" cy="36576"/>
          </a:xfrm>
          <a:prstGeom prst="rect">
            <a:avLst/>
          </a:prstGeom>
          <a:solidFill>
            <a:srgbClr val="FF2D8A"/>
          </a:solidFill>
          <a:ln/>
        </p:spPr>
        <p:txBody>
          <a:bodyPr/>
          <a:lstStyle/>
          <a:p>
            <a:endParaRPr lang="en-US"/>
          </a:p>
        </p:txBody>
      </p:sp>
      <p:sp>
        <p:nvSpPr>
          <p:cNvPr id="9" name="Text 7"/>
          <p:cNvSpPr/>
          <p:nvPr/>
        </p:nvSpPr>
        <p:spPr>
          <a:xfrm>
            <a:off x="10972800" y="6400800"/>
            <a:ext cx="914400" cy="274320"/>
          </a:xfrm>
          <a:prstGeom prst="rect">
            <a:avLst/>
          </a:prstGeom>
          <a:noFill/>
          <a:ln/>
        </p:spPr>
        <p:txBody>
          <a:bodyPr wrap="square" rtlCol="0" anchor="ctr"/>
          <a:lstStyle/>
          <a:p>
            <a:pPr marL="0" indent="0" algn="r">
              <a:buNone/>
            </a:pPr>
            <a:r>
              <a:rPr lang="en-US" sz="900" dirty="0">
                <a:solidFill>
                  <a:srgbClr val="666699"/>
                </a:solidFill>
                <a:latin typeface="Segoe UI" pitchFamily="34" charset="0"/>
                <a:ea typeface="Segoe UI" pitchFamily="34" charset="-122"/>
                <a:cs typeface="Segoe UI"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B2D"/>
        </a:solidFill>
        <a:effectLst/>
      </p:bgPr>
    </p:bg>
    <p:spTree>
      <p:nvGrpSpPr>
        <p:cNvPr id="1" name=""/>
        <p:cNvGrpSpPr/>
        <p:nvPr/>
      </p:nvGrpSpPr>
      <p:grpSpPr>
        <a:xfrm>
          <a:off x="0" y="0"/>
          <a:ext cx="0" cy="0"/>
          <a:chOff x="0" y="0"/>
          <a:chExt cx="0" cy="0"/>
        </a:xfrm>
      </p:grpSpPr>
      <p:sp>
        <p:nvSpPr>
          <p:cNvPr id="2" name="Shape 0"/>
          <p:cNvSpPr/>
          <p:nvPr/>
        </p:nvSpPr>
        <p:spPr>
          <a:xfrm>
            <a:off x="7772400" y="-1828800"/>
            <a:ext cx="6400800" cy="6400800"/>
          </a:xfrm>
          <a:prstGeom prst="ellipse">
            <a:avLst/>
          </a:prstGeom>
          <a:solidFill>
            <a:srgbClr val="6B0AC9"/>
          </a:solidFill>
          <a:ln/>
        </p:spPr>
        <p:txBody>
          <a:bodyPr/>
          <a:lstStyle/>
          <a:p>
            <a:endParaRPr lang="en-US"/>
          </a:p>
        </p:txBody>
      </p:sp>
      <p:sp>
        <p:nvSpPr>
          <p:cNvPr id="3" name="Shape 1"/>
          <p:cNvSpPr/>
          <p:nvPr/>
        </p:nvSpPr>
        <p:spPr>
          <a:xfrm>
            <a:off x="8686800" y="-1371600"/>
            <a:ext cx="4572000" cy="4572000"/>
          </a:xfrm>
          <a:prstGeom prst="ellipse">
            <a:avLst/>
          </a:prstGeom>
          <a:solidFill>
            <a:srgbClr val="4A07A0"/>
          </a:solidFill>
          <a:ln/>
        </p:spPr>
        <p:txBody>
          <a:bodyPr/>
          <a:lstStyle/>
          <a:p>
            <a:endParaRPr lang="en-US"/>
          </a:p>
        </p:txBody>
      </p:sp>
      <p:sp>
        <p:nvSpPr>
          <p:cNvPr id="4" name="Text 2"/>
          <p:cNvSpPr/>
          <p:nvPr/>
        </p:nvSpPr>
        <p:spPr>
          <a:xfrm>
            <a:off x="731520" y="457200"/>
            <a:ext cx="7315200" cy="640080"/>
          </a:xfrm>
          <a:prstGeom prst="rect">
            <a:avLst/>
          </a:prstGeom>
          <a:noFill/>
          <a:ln/>
        </p:spPr>
        <p:txBody>
          <a:bodyPr wrap="square" rtlCol="0" anchor="ctr"/>
          <a:lstStyle/>
          <a:p>
            <a:pPr marL="0" indent="0" algn="l">
              <a:buNone/>
            </a:pPr>
            <a:r>
              <a:rPr lang="en-US" sz="3600" kern="0" spc="200" dirty="0">
                <a:solidFill>
                  <a:srgbClr val="FFFFFF"/>
                </a:solidFill>
                <a:latin typeface="Segoe UI" pitchFamily="34" charset="0"/>
                <a:ea typeface="Segoe UI" pitchFamily="34" charset="-122"/>
                <a:cs typeface="Segoe UI" pitchFamily="34" charset="-120"/>
              </a:rPr>
              <a:t>THE CHALLENGE</a:t>
            </a:r>
            <a:endParaRPr lang="en-US" sz="3600" dirty="0"/>
          </a:p>
        </p:txBody>
      </p:sp>
      <p:sp>
        <p:nvSpPr>
          <p:cNvPr id="5" name="Text 3"/>
          <p:cNvSpPr/>
          <p:nvPr/>
        </p:nvSpPr>
        <p:spPr>
          <a:xfrm>
            <a:off x="731520" y="1051560"/>
            <a:ext cx="7315200" cy="365760"/>
          </a:xfrm>
          <a:prstGeom prst="rect">
            <a:avLst/>
          </a:prstGeom>
          <a:noFill/>
          <a:ln/>
        </p:spPr>
        <p:txBody>
          <a:bodyPr wrap="square" rtlCol="0" anchor="ctr"/>
          <a:lstStyle/>
          <a:p>
            <a:pPr marL="0" indent="0" algn="l">
              <a:buNone/>
            </a:pPr>
            <a:r>
              <a:rPr lang="en-US" sz="1400" dirty="0">
                <a:solidFill>
                  <a:srgbClr val="B8B8D0"/>
                </a:solidFill>
                <a:latin typeface="Segoe UI Light" pitchFamily="34" charset="0"/>
                <a:ea typeface="Segoe UI Light" pitchFamily="34" charset="-122"/>
                <a:cs typeface="Segoe UI Light" pitchFamily="34" charset="-120"/>
              </a:rPr>
              <a:t>Why traditional IoT analytics falls short</a:t>
            </a:r>
            <a:endParaRPr lang="en-US" sz="1400" dirty="0"/>
          </a:p>
        </p:txBody>
      </p:sp>
      <p:sp>
        <p:nvSpPr>
          <p:cNvPr id="6" name="Shape 4"/>
          <p:cNvSpPr/>
          <p:nvPr/>
        </p:nvSpPr>
        <p:spPr>
          <a:xfrm>
            <a:off x="731520" y="1737360"/>
            <a:ext cx="4572000" cy="1737360"/>
          </a:xfrm>
          <a:prstGeom prst="roundRect">
            <a:avLst>
              <a:gd name="adj" fmla="val 2632"/>
            </a:avLst>
          </a:prstGeom>
          <a:solidFill>
            <a:srgbClr val="0D1147"/>
          </a:solidFill>
          <a:ln w="12700">
            <a:solidFill>
              <a:srgbClr val="FF2D8A"/>
            </a:solidFill>
            <a:prstDash val="solid"/>
          </a:ln>
        </p:spPr>
        <p:txBody>
          <a:bodyPr/>
          <a:lstStyle/>
          <a:p>
            <a:endParaRPr lang="en-US"/>
          </a:p>
        </p:txBody>
      </p:sp>
      <p:sp>
        <p:nvSpPr>
          <p:cNvPr id="7" name="Shape 5"/>
          <p:cNvSpPr/>
          <p:nvPr/>
        </p:nvSpPr>
        <p:spPr>
          <a:xfrm>
            <a:off x="1005840" y="2103120"/>
            <a:ext cx="502920" cy="502920"/>
          </a:xfrm>
          <a:prstGeom prst="ellipse">
            <a:avLst/>
          </a:prstGeom>
          <a:solidFill>
            <a:srgbClr val="FF2D8A"/>
          </a:solidFill>
          <a:ln/>
        </p:spPr>
        <p:txBody>
          <a:bodyPr/>
          <a:lstStyle/>
          <a:p>
            <a:endParaRPr lang="en-US"/>
          </a:p>
        </p:txBody>
      </p:sp>
      <p:sp>
        <p:nvSpPr>
          <p:cNvPr id="8" name="Text 6"/>
          <p:cNvSpPr/>
          <p:nvPr/>
        </p:nvSpPr>
        <p:spPr>
          <a:xfrm>
            <a:off x="1737360" y="2057400"/>
            <a:ext cx="3200400" cy="365760"/>
          </a:xfrm>
          <a:prstGeom prst="rect">
            <a:avLst/>
          </a:prstGeom>
          <a:noFill/>
          <a:ln/>
        </p:spPr>
        <p:txBody>
          <a:bodyPr wrap="square" rtlCol="0" anchor="ctr"/>
          <a:lstStyle/>
          <a:p>
            <a:pPr marL="0" indent="0" algn="l">
              <a:buNone/>
            </a:pPr>
            <a:r>
              <a:rPr lang="en-US" sz="1600" b="1" dirty="0">
                <a:solidFill>
                  <a:srgbClr val="FFFFFF"/>
                </a:solidFill>
                <a:latin typeface="Segoe UI" pitchFamily="34" charset="0"/>
                <a:ea typeface="Segoe UI" pitchFamily="34" charset="-122"/>
                <a:cs typeface="Segoe UI" pitchFamily="34" charset="-120"/>
              </a:rPr>
              <a:t>Data Volume</a:t>
            </a:r>
            <a:endParaRPr lang="en-US" sz="1600" dirty="0"/>
          </a:p>
        </p:txBody>
      </p:sp>
      <p:sp>
        <p:nvSpPr>
          <p:cNvPr id="9" name="Text 7"/>
          <p:cNvSpPr/>
          <p:nvPr/>
        </p:nvSpPr>
        <p:spPr>
          <a:xfrm>
            <a:off x="1737360" y="2468880"/>
            <a:ext cx="3383280" cy="731520"/>
          </a:xfrm>
          <a:prstGeom prst="rect">
            <a:avLst/>
          </a:prstGeom>
          <a:noFill/>
          <a:ln/>
        </p:spPr>
        <p:txBody>
          <a:bodyPr wrap="square" rtlCol="0" anchor="ctr"/>
          <a:lstStyle/>
          <a:p>
            <a:pPr marL="0" indent="0" algn="l">
              <a:buNone/>
            </a:pPr>
            <a:r>
              <a:rPr lang="en-US" sz="1200" dirty="0">
                <a:solidFill>
                  <a:srgbClr val="C8C8E0"/>
                </a:solidFill>
                <a:latin typeface="Segoe UI Light" pitchFamily="34" charset="0"/>
                <a:ea typeface="Segoe UI Light" pitchFamily="34" charset="-122"/>
                <a:cs typeface="Segoe UI Light" pitchFamily="34" charset="-120"/>
              </a:rPr>
              <a:t>Millions of IoT messages per second overwhelm batch pipelines</a:t>
            </a:r>
            <a:endParaRPr lang="en-US" sz="1200" dirty="0"/>
          </a:p>
        </p:txBody>
      </p:sp>
      <p:sp>
        <p:nvSpPr>
          <p:cNvPr id="10" name="Shape 8"/>
          <p:cNvSpPr/>
          <p:nvPr/>
        </p:nvSpPr>
        <p:spPr>
          <a:xfrm>
            <a:off x="5760720" y="1737360"/>
            <a:ext cx="4572000" cy="1737360"/>
          </a:xfrm>
          <a:prstGeom prst="roundRect">
            <a:avLst>
              <a:gd name="adj" fmla="val 2632"/>
            </a:avLst>
          </a:prstGeom>
          <a:solidFill>
            <a:srgbClr val="0D1147"/>
          </a:solidFill>
          <a:ln w="12700">
            <a:solidFill>
              <a:srgbClr val="7B5EA7"/>
            </a:solidFill>
            <a:prstDash val="solid"/>
          </a:ln>
        </p:spPr>
        <p:txBody>
          <a:bodyPr/>
          <a:lstStyle/>
          <a:p>
            <a:endParaRPr lang="en-US"/>
          </a:p>
        </p:txBody>
      </p:sp>
      <p:sp>
        <p:nvSpPr>
          <p:cNvPr id="11" name="Shape 9"/>
          <p:cNvSpPr/>
          <p:nvPr/>
        </p:nvSpPr>
        <p:spPr>
          <a:xfrm>
            <a:off x="6035040" y="2103120"/>
            <a:ext cx="502920" cy="502920"/>
          </a:xfrm>
          <a:prstGeom prst="ellipse">
            <a:avLst/>
          </a:prstGeom>
          <a:solidFill>
            <a:srgbClr val="7B5EA7"/>
          </a:solidFill>
          <a:ln/>
        </p:spPr>
        <p:txBody>
          <a:bodyPr/>
          <a:lstStyle/>
          <a:p>
            <a:endParaRPr lang="en-US"/>
          </a:p>
        </p:txBody>
      </p:sp>
      <p:sp>
        <p:nvSpPr>
          <p:cNvPr id="12" name="Text 10"/>
          <p:cNvSpPr/>
          <p:nvPr/>
        </p:nvSpPr>
        <p:spPr>
          <a:xfrm>
            <a:off x="6766560" y="2057400"/>
            <a:ext cx="3200400" cy="365760"/>
          </a:xfrm>
          <a:prstGeom prst="rect">
            <a:avLst/>
          </a:prstGeom>
          <a:noFill/>
          <a:ln/>
        </p:spPr>
        <p:txBody>
          <a:bodyPr wrap="square" rtlCol="0" anchor="ctr"/>
          <a:lstStyle/>
          <a:p>
            <a:pPr marL="0" indent="0" algn="l">
              <a:buNone/>
            </a:pPr>
            <a:r>
              <a:rPr lang="en-US" sz="1600" b="1" dirty="0">
                <a:solidFill>
                  <a:srgbClr val="FFFFFF"/>
                </a:solidFill>
                <a:latin typeface="Segoe UI" pitchFamily="34" charset="0"/>
                <a:ea typeface="Segoe UI" pitchFamily="34" charset="-122"/>
                <a:cs typeface="Segoe UI" pitchFamily="34" charset="-120"/>
              </a:rPr>
              <a:t>Latency</a:t>
            </a:r>
            <a:endParaRPr lang="en-US" sz="1600" dirty="0"/>
          </a:p>
        </p:txBody>
      </p:sp>
      <p:sp>
        <p:nvSpPr>
          <p:cNvPr id="13" name="Text 11"/>
          <p:cNvSpPr/>
          <p:nvPr/>
        </p:nvSpPr>
        <p:spPr>
          <a:xfrm>
            <a:off x="6766560" y="2468880"/>
            <a:ext cx="3383280" cy="731520"/>
          </a:xfrm>
          <a:prstGeom prst="rect">
            <a:avLst/>
          </a:prstGeom>
          <a:noFill/>
          <a:ln/>
        </p:spPr>
        <p:txBody>
          <a:bodyPr wrap="square" rtlCol="0" anchor="ctr"/>
          <a:lstStyle/>
          <a:p>
            <a:pPr marL="0" indent="0" algn="l">
              <a:buNone/>
            </a:pPr>
            <a:r>
              <a:rPr lang="en-US" sz="1200" dirty="0">
                <a:solidFill>
                  <a:srgbClr val="C8C8E0"/>
                </a:solidFill>
                <a:latin typeface="Segoe UI Light" pitchFamily="34" charset="0"/>
                <a:ea typeface="Segoe UI Light" pitchFamily="34" charset="-122"/>
                <a:cs typeface="Segoe UI Light" pitchFamily="34" charset="-120"/>
              </a:rPr>
              <a:t>ETL + warehouse loading adds minutes to hours of delay</a:t>
            </a:r>
            <a:endParaRPr lang="en-US" sz="1200" dirty="0"/>
          </a:p>
        </p:txBody>
      </p:sp>
      <p:sp>
        <p:nvSpPr>
          <p:cNvPr id="14" name="Shape 12"/>
          <p:cNvSpPr/>
          <p:nvPr/>
        </p:nvSpPr>
        <p:spPr>
          <a:xfrm>
            <a:off x="731520" y="3749040"/>
            <a:ext cx="4572000" cy="1737360"/>
          </a:xfrm>
          <a:prstGeom prst="roundRect">
            <a:avLst>
              <a:gd name="adj" fmla="val 2632"/>
            </a:avLst>
          </a:prstGeom>
          <a:solidFill>
            <a:srgbClr val="0D1147"/>
          </a:solidFill>
          <a:ln w="12700">
            <a:solidFill>
              <a:srgbClr val="7AB648"/>
            </a:solidFill>
            <a:prstDash val="solid"/>
          </a:ln>
        </p:spPr>
        <p:txBody>
          <a:bodyPr/>
          <a:lstStyle/>
          <a:p>
            <a:endParaRPr lang="en-US"/>
          </a:p>
        </p:txBody>
      </p:sp>
      <p:sp>
        <p:nvSpPr>
          <p:cNvPr id="15" name="Shape 13"/>
          <p:cNvSpPr/>
          <p:nvPr/>
        </p:nvSpPr>
        <p:spPr>
          <a:xfrm>
            <a:off x="1005840" y="4114800"/>
            <a:ext cx="502920" cy="502920"/>
          </a:xfrm>
          <a:prstGeom prst="ellipse">
            <a:avLst/>
          </a:prstGeom>
          <a:solidFill>
            <a:srgbClr val="7AB648"/>
          </a:solidFill>
          <a:ln/>
        </p:spPr>
        <p:txBody>
          <a:bodyPr/>
          <a:lstStyle/>
          <a:p>
            <a:endParaRPr lang="en-US"/>
          </a:p>
        </p:txBody>
      </p:sp>
      <p:sp>
        <p:nvSpPr>
          <p:cNvPr id="16" name="Text 14"/>
          <p:cNvSpPr/>
          <p:nvPr/>
        </p:nvSpPr>
        <p:spPr>
          <a:xfrm>
            <a:off x="1737360" y="4069080"/>
            <a:ext cx="3200400" cy="365760"/>
          </a:xfrm>
          <a:prstGeom prst="rect">
            <a:avLst/>
          </a:prstGeom>
          <a:noFill/>
          <a:ln/>
        </p:spPr>
        <p:txBody>
          <a:bodyPr wrap="square" rtlCol="0" anchor="ctr"/>
          <a:lstStyle/>
          <a:p>
            <a:pPr marL="0" indent="0" algn="l">
              <a:buNone/>
            </a:pPr>
            <a:r>
              <a:rPr lang="en-US" sz="1600" b="1" dirty="0">
                <a:solidFill>
                  <a:srgbClr val="FFFFFF"/>
                </a:solidFill>
                <a:latin typeface="Segoe UI" pitchFamily="34" charset="0"/>
                <a:ea typeface="Segoe UI" pitchFamily="34" charset="-122"/>
                <a:cs typeface="Segoe UI" pitchFamily="34" charset="-120"/>
              </a:rPr>
              <a:t>Complexity</a:t>
            </a:r>
            <a:endParaRPr lang="en-US" sz="1600" dirty="0"/>
          </a:p>
        </p:txBody>
      </p:sp>
      <p:sp>
        <p:nvSpPr>
          <p:cNvPr id="17" name="Text 15"/>
          <p:cNvSpPr/>
          <p:nvPr/>
        </p:nvSpPr>
        <p:spPr>
          <a:xfrm>
            <a:off x="1737360" y="4480560"/>
            <a:ext cx="3383280" cy="731520"/>
          </a:xfrm>
          <a:prstGeom prst="rect">
            <a:avLst/>
          </a:prstGeom>
          <a:noFill/>
          <a:ln/>
        </p:spPr>
        <p:txBody>
          <a:bodyPr wrap="square" rtlCol="0" anchor="ctr"/>
          <a:lstStyle/>
          <a:p>
            <a:pPr marL="0" indent="0" algn="l">
              <a:buNone/>
            </a:pPr>
            <a:r>
              <a:rPr lang="en-US" sz="1200" dirty="0">
                <a:solidFill>
                  <a:srgbClr val="C8C8E0"/>
                </a:solidFill>
                <a:latin typeface="Segoe UI Light" pitchFamily="34" charset="0"/>
                <a:ea typeface="Segoe UI Light" pitchFamily="34" charset="-122"/>
                <a:cs typeface="Segoe UI Light" pitchFamily="34" charset="-120"/>
              </a:rPr>
              <a:t>Multiple intermediate layers (ETL, Athena, Redshift) to manage</a:t>
            </a:r>
            <a:endParaRPr lang="en-US" sz="1200" dirty="0"/>
          </a:p>
        </p:txBody>
      </p:sp>
      <p:sp>
        <p:nvSpPr>
          <p:cNvPr id="18" name="Shape 16"/>
          <p:cNvSpPr/>
          <p:nvPr/>
        </p:nvSpPr>
        <p:spPr>
          <a:xfrm>
            <a:off x="5760720" y="3749040"/>
            <a:ext cx="4572000" cy="1737360"/>
          </a:xfrm>
          <a:prstGeom prst="roundRect">
            <a:avLst>
              <a:gd name="adj" fmla="val 2632"/>
            </a:avLst>
          </a:prstGeom>
          <a:solidFill>
            <a:srgbClr val="0D1147"/>
          </a:solidFill>
          <a:ln w="12700">
            <a:solidFill>
              <a:srgbClr val="FF2D8A"/>
            </a:solidFill>
            <a:prstDash val="solid"/>
          </a:ln>
        </p:spPr>
        <p:txBody>
          <a:bodyPr/>
          <a:lstStyle/>
          <a:p>
            <a:endParaRPr lang="en-US"/>
          </a:p>
        </p:txBody>
      </p:sp>
      <p:sp>
        <p:nvSpPr>
          <p:cNvPr id="19" name="Shape 17"/>
          <p:cNvSpPr/>
          <p:nvPr/>
        </p:nvSpPr>
        <p:spPr>
          <a:xfrm>
            <a:off x="6035040" y="4114800"/>
            <a:ext cx="502920" cy="502920"/>
          </a:xfrm>
          <a:prstGeom prst="ellipse">
            <a:avLst/>
          </a:prstGeom>
          <a:solidFill>
            <a:srgbClr val="FF2D8A"/>
          </a:solidFill>
          <a:ln/>
        </p:spPr>
        <p:txBody>
          <a:bodyPr/>
          <a:lstStyle/>
          <a:p>
            <a:endParaRPr lang="en-US"/>
          </a:p>
        </p:txBody>
      </p:sp>
      <p:sp>
        <p:nvSpPr>
          <p:cNvPr id="20" name="Text 18"/>
          <p:cNvSpPr/>
          <p:nvPr/>
        </p:nvSpPr>
        <p:spPr>
          <a:xfrm>
            <a:off x="6766560" y="4069080"/>
            <a:ext cx="3200400" cy="365760"/>
          </a:xfrm>
          <a:prstGeom prst="rect">
            <a:avLst/>
          </a:prstGeom>
          <a:noFill/>
          <a:ln/>
        </p:spPr>
        <p:txBody>
          <a:bodyPr wrap="square" rtlCol="0" anchor="ctr"/>
          <a:lstStyle/>
          <a:p>
            <a:pPr marL="0" indent="0" algn="l">
              <a:buNone/>
            </a:pPr>
            <a:r>
              <a:rPr lang="en-US" sz="1600" b="1" dirty="0">
                <a:solidFill>
                  <a:srgbClr val="FFFFFF"/>
                </a:solidFill>
                <a:latin typeface="Segoe UI" pitchFamily="34" charset="0"/>
                <a:ea typeface="Segoe UI" pitchFamily="34" charset="-122"/>
                <a:cs typeface="Segoe UI" pitchFamily="34" charset="-120"/>
              </a:rPr>
              <a:t>Cost</a:t>
            </a:r>
            <a:endParaRPr lang="en-US" sz="1600" dirty="0"/>
          </a:p>
        </p:txBody>
      </p:sp>
      <p:sp>
        <p:nvSpPr>
          <p:cNvPr id="21" name="Text 19"/>
          <p:cNvSpPr/>
          <p:nvPr/>
        </p:nvSpPr>
        <p:spPr>
          <a:xfrm>
            <a:off x="6766560" y="4480560"/>
            <a:ext cx="3383280" cy="731520"/>
          </a:xfrm>
          <a:prstGeom prst="rect">
            <a:avLst/>
          </a:prstGeom>
          <a:noFill/>
          <a:ln/>
        </p:spPr>
        <p:txBody>
          <a:bodyPr wrap="square" rtlCol="0" anchor="ctr"/>
          <a:lstStyle/>
          <a:p>
            <a:pPr marL="0" indent="0" algn="l">
              <a:buNone/>
            </a:pPr>
            <a:r>
              <a:rPr lang="en-US" sz="1200" dirty="0">
                <a:solidFill>
                  <a:srgbClr val="C8C8E0"/>
                </a:solidFill>
                <a:latin typeface="Segoe UI Light" pitchFamily="34" charset="0"/>
                <a:ea typeface="Segoe UI Light" pitchFamily="34" charset="-122"/>
                <a:cs typeface="Segoe UI Light" pitchFamily="34" charset="-120"/>
              </a:rPr>
              <a:t>Always-on clusters and idle compute drive up operational spend</a:t>
            </a:r>
            <a:endParaRPr lang="en-US" sz="1200" dirty="0"/>
          </a:p>
        </p:txBody>
      </p:sp>
      <p:sp>
        <p:nvSpPr>
          <p:cNvPr id="22" name="Shape 20"/>
          <p:cNvSpPr/>
          <p:nvPr/>
        </p:nvSpPr>
        <p:spPr>
          <a:xfrm>
            <a:off x="731520" y="5760720"/>
            <a:ext cx="10515600" cy="640080"/>
          </a:xfrm>
          <a:prstGeom prst="roundRect">
            <a:avLst>
              <a:gd name="adj" fmla="val 4286"/>
            </a:avLst>
          </a:prstGeom>
          <a:solidFill>
            <a:srgbClr val="0D1147"/>
          </a:solidFill>
          <a:ln w="6350">
            <a:solidFill>
              <a:srgbClr val="FF2D8A"/>
            </a:solidFill>
            <a:prstDash val="solid"/>
          </a:ln>
        </p:spPr>
        <p:txBody>
          <a:bodyPr/>
          <a:lstStyle/>
          <a:p>
            <a:endParaRPr lang="en-US"/>
          </a:p>
        </p:txBody>
      </p:sp>
      <p:sp>
        <p:nvSpPr>
          <p:cNvPr id="23" name="Text 21"/>
          <p:cNvSpPr/>
          <p:nvPr/>
        </p:nvSpPr>
        <p:spPr>
          <a:xfrm>
            <a:off x="914400" y="5806440"/>
            <a:ext cx="10058400" cy="548640"/>
          </a:xfrm>
          <a:prstGeom prst="rect">
            <a:avLst/>
          </a:prstGeom>
          <a:noFill/>
          <a:ln/>
        </p:spPr>
        <p:txBody>
          <a:bodyPr wrap="square" rtlCol="0" anchor="ctr"/>
          <a:lstStyle/>
          <a:p>
            <a:pPr marL="0" indent="0" algn="ctr">
              <a:buNone/>
            </a:pPr>
            <a:r>
              <a:rPr lang="en-US" sz="1200" dirty="0">
                <a:solidFill>
                  <a:srgbClr val="FFFFFF"/>
                </a:solidFill>
                <a:latin typeface="Segoe UI" pitchFamily="34" charset="0"/>
                <a:ea typeface="Segoe UI" pitchFamily="34" charset="-122"/>
                <a:cs typeface="Segoe UI" pitchFamily="34" charset="-120"/>
              </a:rPr>
              <a:t>Sub-minute insight latency required: Fleet tracking • Predictive maintenance • Fraud detection</a:t>
            </a:r>
            <a:endParaRPr lang="en-US" sz="1200" dirty="0"/>
          </a:p>
        </p:txBody>
      </p:sp>
      <p:sp>
        <p:nvSpPr>
          <p:cNvPr id="24" name="Text 22"/>
          <p:cNvSpPr/>
          <p:nvPr/>
        </p:nvSpPr>
        <p:spPr>
          <a:xfrm>
            <a:off x="10972800" y="6400800"/>
            <a:ext cx="914400" cy="274320"/>
          </a:xfrm>
          <a:prstGeom prst="rect">
            <a:avLst/>
          </a:prstGeom>
          <a:noFill/>
          <a:ln/>
        </p:spPr>
        <p:txBody>
          <a:bodyPr wrap="square" rtlCol="0" anchor="ctr"/>
          <a:lstStyle/>
          <a:p>
            <a:pPr marL="0" indent="0" algn="r">
              <a:buNone/>
            </a:pPr>
            <a:r>
              <a:rPr lang="en-US" sz="900" dirty="0">
                <a:solidFill>
                  <a:srgbClr val="666699"/>
                </a:solidFill>
                <a:latin typeface="Segoe UI" pitchFamily="34" charset="0"/>
                <a:ea typeface="Segoe UI" pitchFamily="34" charset="-122"/>
                <a:cs typeface="Segoe U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B2D"/>
        </a:solidFill>
        <a:effectLst/>
      </p:bgPr>
    </p:bg>
    <p:spTree>
      <p:nvGrpSpPr>
        <p:cNvPr id="1" name=""/>
        <p:cNvGrpSpPr/>
        <p:nvPr/>
      </p:nvGrpSpPr>
      <p:grpSpPr>
        <a:xfrm>
          <a:off x="0" y="0"/>
          <a:ext cx="0" cy="0"/>
          <a:chOff x="0" y="0"/>
          <a:chExt cx="0" cy="0"/>
        </a:xfrm>
      </p:grpSpPr>
      <p:sp>
        <p:nvSpPr>
          <p:cNvPr id="2" name="Shape 0"/>
          <p:cNvSpPr/>
          <p:nvPr/>
        </p:nvSpPr>
        <p:spPr>
          <a:xfrm>
            <a:off x="7772400" y="-1828800"/>
            <a:ext cx="6400800" cy="6400800"/>
          </a:xfrm>
          <a:prstGeom prst="ellipse">
            <a:avLst/>
          </a:prstGeom>
          <a:solidFill>
            <a:srgbClr val="6B0AC9"/>
          </a:solidFill>
          <a:ln/>
        </p:spPr>
        <p:txBody>
          <a:bodyPr/>
          <a:lstStyle/>
          <a:p>
            <a:endParaRPr lang="en-US"/>
          </a:p>
        </p:txBody>
      </p:sp>
      <p:sp>
        <p:nvSpPr>
          <p:cNvPr id="3" name="Shape 1"/>
          <p:cNvSpPr/>
          <p:nvPr/>
        </p:nvSpPr>
        <p:spPr>
          <a:xfrm>
            <a:off x="8686800" y="-1371600"/>
            <a:ext cx="4572000" cy="4572000"/>
          </a:xfrm>
          <a:prstGeom prst="ellipse">
            <a:avLst/>
          </a:prstGeom>
          <a:solidFill>
            <a:srgbClr val="4A07A0"/>
          </a:solidFill>
          <a:ln/>
        </p:spPr>
        <p:txBody>
          <a:bodyPr/>
          <a:lstStyle/>
          <a:p>
            <a:endParaRPr lang="en-US"/>
          </a:p>
        </p:txBody>
      </p:sp>
      <p:sp>
        <p:nvSpPr>
          <p:cNvPr id="4" name="Text 2"/>
          <p:cNvSpPr/>
          <p:nvPr/>
        </p:nvSpPr>
        <p:spPr>
          <a:xfrm>
            <a:off x="731520" y="274320"/>
            <a:ext cx="7315200" cy="548640"/>
          </a:xfrm>
          <a:prstGeom prst="rect">
            <a:avLst/>
          </a:prstGeom>
          <a:noFill/>
          <a:ln/>
        </p:spPr>
        <p:txBody>
          <a:bodyPr wrap="square" rtlCol="0" anchor="ctr"/>
          <a:lstStyle/>
          <a:p>
            <a:pPr marL="0" indent="0" algn="l">
              <a:buNone/>
            </a:pPr>
            <a:r>
              <a:rPr lang="en-US" sz="3200" kern="0" spc="200" dirty="0">
                <a:solidFill>
                  <a:srgbClr val="FFFFFF"/>
                </a:solidFill>
                <a:latin typeface="Segoe UI" pitchFamily="34" charset="0"/>
                <a:ea typeface="Segoe UI" pitchFamily="34" charset="-122"/>
                <a:cs typeface="Segoe UI" pitchFamily="34" charset="-120"/>
              </a:rPr>
              <a:t>ARCHITECTURE OVERVIEW</a:t>
            </a:r>
            <a:endParaRPr lang="en-US" sz="3200" dirty="0"/>
          </a:p>
        </p:txBody>
      </p:sp>
      <p:sp>
        <p:nvSpPr>
          <p:cNvPr id="5" name="Text 3"/>
          <p:cNvSpPr/>
          <p:nvPr/>
        </p:nvSpPr>
        <p:spPr>
          <a:xfrm>
            <a:off x="731520" y="777240"/>
            <a:ext cx="10058400" cy="320040"/>
          </a:xfrm>
          <a:prstGeom prst="rect">
            <a:avLst/>
          </a:prstGeom>
          <a:noFill/>
          <a:ln/>
        </p:spPr>
        <p:txBody>
          <a:bodyPr wrap="square" rtlCol="0" anchor="ctr"/>
          <a:lstStyle/>
          <a:p>
            <a:pPr marL="0" indent="0" algn="l">
              <a:buNone/>
            </a:pPr>
            <a:r>
              <a:rPr lang="en-US" sz="1200" dirty="0">
                <a:solidFill>
                  <a:srgbClr val="B8B8D0"/>
                </a:solidFill>
                <a:latin typeface="Segoe UI Light" pitchFamily="34" charset="0"/>
                <a:ea typeface="Segoe UI Light" pitchFamily="34" charset="-122"/>
                <a:cs typeface="Segoe UI Light" pitchFamily="34" charset="-120"/>
              </a:rPr>
              <a:t>Fully serverless, streaming pipeline — Direct path from IoT to QuickSight (no Athena needed)</a:t>
            </a:r>
            <a:endParaRPr lang="en-US" sz="1200" dirty="0"/>
          </a:p>
        </p:txBody>
      </p:sp>
      <p:sp>
        <p:nvSpPr>
          <p:cNvPr id="6" name="Shape 4"/>
          <p:cNvSpPr/>
          <p:nvPr/>
        </p:nvSpPr>
        <p:spPr>
          <a:xfrm>
            <a:off x="1371600" y="2866644"/>
            <a:ext cx="365760" cy="27432"/>
          </a:xfrm>
          <a:prstGeom prst="rect">
            <a:avLst/>
          </a:prstGeom>
          <a:solidFill>
            <a:srgbClr val="FFFFFF"/>
          </a:solidFill>
          <a:ln/>
        </p:spPr>
        <p:txBody>
          <a:bodyPr/>
          <a:lstStyle/>
          <a:p>
            <a:endParaRPr lang="en-US"/>
          </a:p>
        </p:txBody>
      </p:sp>
      <p:sp>
        <p:nvSpPr>
          <p:cNvPr id="7" name="Text 5"/>
          <p:cNvSpPr/>
          <p:nvPr/>
        </p:nvSpPr>
        <p:spPr>
          <a:xfrm>
            <a:off x="1554480" y="2743200"/>
            <a:ext cx="274320" cy="274320"/>
          </a:xfrm>
          <a:prstGeom prst="rect">
            <a:avLst/>
          </a:prstGeom>
          <a:noFill/>
          <a:ln/>
        </p:spPr>
        <p:txBody>
          <a:bodyPr wrap="square" rtlCol="0" anchor="ctr"/>
          <a:lstStyle/>
          <a:p>
            <a:pPr marL="0" indent="0" algn="ctr">
              <a:buNone/>
            </a:pPr>
            <a:r>
              <a:rPr lang="en-US" sz="800" dirty="0">
                <a:solidFill>
                  <a:srgbClr val="FFFFFF">
                    <a:alpha val="60000"/>
                  </a:srgbClr>
                </a:solidFill>
              </a:rPr>
              <a:t>▶</a:t>
            </a:r>
            <a:endParaRPr lang="en-US" sz="800" dirty="0"/>
          </a:p>
        </p:txBody>
      </p:sp>
      <p:sp>
        <p:nvSpPr>
          <p:cNvPr id="8" name="Shape 6"/>
          <p:cNvSpPr/>
          <p:nvPr/>
        </p:nvSpPr>
        <p:spPr>
          <a:xfrm>
            <a:off x="2743200" y="2866644"/>
            <a:ext cx="365760" cy="27432"/>
          </a:xfrm>
          <a:prstGeom prst="rect">
            <a:avLst/>
          </a:prstGeom>
          <a:solidFill>
            <a:srgbClr val="FFFFFF"/>
          </a:solidFill>
          <a:ln/>
        </p:spPr>
        <p:txBody>
          <a:bodyPr/>
          <a:lstStyle/>
          <a:p>
            <a:endParaRPr lang="en-US"/>
          </a:p>
        </p:txBody>
      </p:sp>
      <p:sp>
        <p:nvSpPr>
          <p:cNvPr id="9" name="Text 7"/>
          <p:cNvSpPr/>
          <p:nvPr/>
        </p:nvSpPr>
        <p:spPr>
          <a:xfrm>
            <a:off x="2926080" y="2743200"/>
            <a:ext cx="274320" cy="274320"/>
          </a:xfrm>
          <a:prstGeom prst="rect">
            <a:avLst/>
          </a:prstGeom>
          <a:noFill/>
          <a:ln/>
        </p:spPr>
        <p:txBody>
          <a:bodyPr wrap="square" rtlCol="0" anchor="ctr"/>
          <a:lstStyle/>
          <a:p>
            <a:pPr marL="0" indent="0" algn="ctr">
              <a:buNone/>
            </a:pPr>
            <a:r>
              <a:rPr lang="en-US" sz="800" dirty="0">
                <a:solidFill>
                  <a:srgbClr val="FFFFFF">
                    <a:alpha val="60000"/>
                  </a:srgbClr>
                </a:solidFill>
              </a:rPr>
              <a:t>▶</a:t>
            </a:r>
            <a:endParaRPr lang="en-US" sz="800" dirty="0"/>
          </a:p>
        </p:txBody>
      </p:sp>
      <p:sp>
        <p:nvSpPr>
          <p:cNvPr id="10" name="Shape 8"/>
          <p:cNvSpPr/>
          <p:nvPr/>
        </p:nvSpPr>
        <p:spPr>
          <a:xfrm>
            <a:off x="4114800" y="2866644"/>
            <a:ext cx="457200" cy="27432"/>
          </a:xfrm>
          <a:prstGeom prst="rect">
            <a:avLst/>
          </a:prstGeom>
          <a:solidFill>
            <a:srgbClr val="FFFFFF"/>
          </a:solidFill>
          <a:ln/>
        </p:spPr>
        <p:txBody>
          <a:bodyPr/>
          <a:lstStyle/>
          <a:p>
            <a:endParaRPr lang="en-US"/>
          </a:p>
        </p:txBody>
      </p:sp>
      <p:sp>
        <p:nvSpPr>
          <p:cNvPr id="11" name="Text 9"/>
          <p:cNvSpPr/>
          <p:nvPr/>
        </p:nvSpPr>
        <p:spPr>
          <a:xfrm>
            <a:off x="4389120" y="2743200"/>
            <a:ext cx="274320" cy="274320"/>
          </a:xfrm>
          <a:prstGeom prst="rect">
            <a:avLst/>
          </a:prstGeom>
          <a:noFill/>
          <a:ln/>
        </p:spPr>
        <p:txBody>
          <a:bodyPr wrap="square" rtlCol="0" anchor="ctr"/>
          <a:lstStyle/>
          <a:p>
            <a:pPr marL="0" indent="0" algn="ctr">
              <a:buNone/>
            </a:pPr>
            <a:r>
              <a:rPr lang="en-US" sz="800" dirty="0">
                <a:solidFill>
                  <a:srgbClr val="FFFFFF">
                    <a:alpha val="60000"/>
                  </a:srgbClr>
                </a:solidFill>
              </a:rPr>
              <a:t>▶</a:t>
            </a:r>
            <a:endParaRPr lang="en-US" sz="800" dirty="0"/>
          </a:p>
        </p:txBody>
      </p:sp>
      <p:sp>
        <p:nvSpPr>
          <p:cNvPr id="12" name="Shape 10"/>
          <p:cNvSpPr/>
          <p:nvPr/>
        </p:nvSpPr>
        <p:spPr>
          <a:xfrm>
            <a:off x="5577840" y="2866644"/>
            <a:ext cx="548640" cy="27432"/>
          </a:xfrm>
          <a:prstGeom prst="rect">
            <a:avLst/>
          </a:prstGeom>
          <a:solidFill>
            <a:srgbClr val="FFFFFF"/>
          </a:solidFill>
          <a:ln/>
        </p:spPr>
        <p:txBody>
          <a:bodyPr/>
          <a:lstStyle/>
          <a:p>
            <a:endParaRPr lang="en-US"/>
          </a:p>
        </p:txBody>
      </p:sp>
      <p:sp>
        <p:nvSpPr>
          <p:cNvPr id="13" name="Text 11"/>
          <p:cNvSpPr/>
          <p:nvPr/>
        </p:nvSpPr>
        <p:spPr>
          <a:xfrm>
            <a:off x="5943600" y="2743200"/>
            <a:ext cx="274320" cy="274320"/>
          </a:xfrm>
          <a:prstGeom prst="rect">
            <a:avLst/>
          </a:prstGeom>
          <a:noFill/>
          <a:ln/>
        </p:spPr>
        <p:txBody>
          <a:bodyPr wrap="square" rtlCol="0" anchor="ctr"/>
          <a:lstStyle/>
          <a:p>
            <a:pPr marL="0" indent="0" algn="ctr">
              <a:buNone/>
            </a:pPr>
            <a:r>
              <a:rPr lang="en-US" sz="800" dirty="0">
                <a:solidFill>
                  <a:srgbClr val="FFFFFF">
                    <a:alpha val="60000"/>
                  </a:srgbClr>
                </a:solidFill>
              </a:rPr>
              <a:t>▶</a:t>
            </a:r>
            <a:endParaRPr lang="en-US" sz="800" dirty="0"/>
          </a:p>
        </p:txBody>
      </p:sp>
      <p:sp>
        <p:nvSpPr>
          <p:cNvPr id="14" name="Shape 12"/>
          <p:cNvSpPr/>
          <p:nvPr/>
        </p:nvSpPr>
        <p:spPr>
          <a:xfrm>
            <a:off x="7132320" y="2866644"/>
            <a:ext cx="640080" cy="27432"/>
          </a:xfrm>
          <a:prstGeom prst="rect">
            <a:avLst/>
          </a:prstGeom>
          <a:solidFill>
            <a:srgbClr val="FFFFFF"/>
          </a:solidFill>
          <a:ln/>
        </p:spPr>
        <p:txBody>
          <a:bodyPr/>
          <a:lstStyle/>
          <a:p>
            <a:endParaRPr lang="en-US"/>
          </a:p>
        </p:txBody>
      </p:sp>
      <p:sp>
        <p:nvSpPr>
          <p:cNvPr id="15" name="Text 13"/>
          <p:cNvSpPr/>
          <p:nvPr/>
        </p:nvSpPr>
        <p:spPr>
          <a:xfrm>
            <a:off x="7589520" y="2743200"/>
            <a:ext cx="274320" cy="274320"/>
          </a:xfrm>
          <a:prstGeom prst="rect">
            <a:avLst/>
          </a:prstGeom>
          <a:noFill/>
          <a:ln/>
        </p:spPr>
        <p:txBody>
          <a:bodyPr wrap="square" rtlCol="0" anchor="ctr"/>
          <a:lstStyle/>
          <a:p>
            <a:pPr marL="0" indent="0" algn="ctr">
              <a:buNone/>
            </a:pPr>
            <a:r>
              <a:rPr lang="en-US" sz="800" dirty="0">
                <a:solidFill>
                  <a:srgbClr val="FFFFFF">
                    <a:alpha val="60000"/>
                  </a:srgbClr>
                </a:solidFill>
              </a:rPr>
              <a:t>▶</a:t>
            </a:r>
            <a:endParaRPr lang="en-US" sz="800" dirty="0"/>
          </a:p>
        </p:txBody>
      </p:sp>
      <p:sp>
        <p:nvSpPr>
          <p:cNvPr id="16" name="Shape 14"/>
          <p:cNvSpPr/>
          <p:nvPr/>
        </p:nvSpPr>
        <p:spPr>
          <a:xfrm>
            <a:off x="8778240" y="2866644"/>
            <a:ext cx="457200" cy="27432"/>
          </a:xfrm>
          <a:prstGeom prst="rect">
            <a:avLst/>
          </a:prstGeom>
          <a:solidFill>
            <a:srgbClr val="FFFFFF"/>
          </a:solidFill>
          <a:ln/>
        </p:spPr>
        <p:txBody>
          <a:bodyPr/>
          <a:lstStyle/>
          <a:p>
            <a:endParaRPr lang="en-US"/>
          </a:p>
        </p:txBody>
      </p:sp>
      <p:sp>
        <p:nvSpPr>
          <p:cNvPr id="17" name="Text 15"/>
          <p:cNvSpPr/>
          <p:nvPr/>
        </p:nvSpPr>
        <p:spPr>
          <a:xfrm>
            <a:off x="9052560" y="2743200"/>
            <a:ext cx="274320" cy="274320"/>
          </a:xfrm>
          <a:prstGeom prst="rect">
            <a:avLst/>
          </a:prstGeom>
          <a:noFill/>
          <a:ln/>
        </p:spPr>
        <p:txBody>
          <a:bodyPr wrap="square" rtlCol="0" anchor="ctr"/>
          <a:lstStyle/>
          <a:p>
            <a:pPr marL="0" indent="0" algn="ctr">
              <a:buNone/>
            </a:pPr>
            <a:r>
              <a:rPr lang="en-US" sz="800" dirty="0">
                <a:solidFill>
                  <a:srgbClr val="FFFFFF">
                    <a:alpha val="60000"/>
                  </a:srgbClr>
                </a:solidFill>
              </a:rPr>
              <a:t>▶</a:t>
            </a:r>
            <a:endParaRPr lang="en-US" sz="800" dirty="0"/>
          </a:p>
        </p:txBody>
      </p:sp>
      <p:sp>
        <p:nvSpPr>
          <p:cNvPr id="18" name="Shape 16"/>
          <p:cNvSpPr/>
          <p:nvPr/>
        </p:nvSpPr>
        <p:spPr>
          <a:xfrm>
            <a:off x="10241280" y="2866644"/>
            <a:ext cx="457200" cy="27432"/>
          </a:xfrm>
          <a:prstGeom prst="rect">
            <a:avLst/>
          </a:prstGeom>
          <a:solidFill>
            <a:srgbClr val="FFFFFF"/>
          </a:solidFill>
          <a:ln/>
        </p:spPr>
        <p:txBody>
          <a:bodyPr/>
          <a:lstStyle/>
          <a:p>
            <a:endParaRPr lang="en-US"/>
          </a:p>
        </p:txBody>
      </p:sp>
      <p:sp>
        <p:nvSpPr>
          <p:cNvPr id="19" name="Text 17"/>
          <p:cNvSpPr/>
          <p:nvPr/>
        </p:nvSpPr>
        <p:spPr>
          <a:xfrm>
            <a:off x="10515600" y="2743200"/>
            <a:ext cx="274320" cy="274320"/>
          </a:xfrm>
          <a:prstGeom prst="rect">
            <a:avLst/>
          </a:prstGeom>
          <a:noFill/>
          <a:ln/>
        </p:spPr>
        <p:txBody>
          <a:bodyPr wrap="square" rtlCol="0" anchor="ctr"/>
          <a:lstStyle/>
          <a:p>
            <a:pPr marL="0" indent="0" algn="ctr">
              <a:buNone/>
            </a:pPr>
            <a:r>
              <a:rPr lang="en-US" sz="800" dirty="0">
                <a:solidFill>
                  <a:srgbClr val="FFFFFF">
                    <a:alpha val="60000"/>
                  </a:srgbClr>
                </a:solidFill>
              </a:rPr>
              <a:t>▶</a:t>
            </a:r>
            <a:endParaRPr lang="en-US" sz="800" dirty="0"/>
          </a:p>
        </p:txBody>
      </p:sp>
      <p:sp>
        <p:nvSpPr>
          <p:cNvPr id="20" name="Shape 18"/>
          <p:cNvSpPr/>
          <p:nvPr/>
        </p:nvSpPr>
        <p:spPr>
          <a:xfrm>
            <a:off x="365760" y="2377440"/>
            <a:ext cx="1005840" cy="1005840"/>
          </a:xfrm>
          <a:prstGeom prst="roundRect">
            <a:avLst>
              <a:gd name="adj" fmla="val 7273"/>
            </a:avLst>
          </a:prstGeom>
          <a:solidFill>
            <a:srgbClr val="0A0E3A"/>
          </a:solidFill>
          <a:ln w="19050">
            <a:solidFill>
              <a:srgbClr val="FFFFFF"/>
            </a:solidFill>
            <a:prstDash val="solid"/>
          </a:ln>
        </p:spPr>
        <p:txBody>
          <a:bodyPr/>
          <a:lstStyle/>
          <a:p>
            <a:endParaRPr lang="en-US"/>
          </a:p>
        </p:txBody>
      </p:sp>
      <p:sp>
        <p:nvSpPr>
          <p:cNvPr id="21" name="Shape 19"/>
          <p:cNvSpPr/>
          <p:nvPr/>
        </p:nvSpPr>
        <p:spPr>
          <a:xfrm>
            <a:off x="685800" y="2514600"/>
            <a:ext cx="365760" cy="365760"/>
          </a:xfrm>
          <a:prstGeom prst="ellipse">
            <a:avLst/>
          </a:prstGeom>
          <a:solidFill>
            <a:srgbClr val="FFFFFF"/>
          </a:solidFill>
          <a:ln/>
        </p:spPr>
        <p:txBody>
          <a:bodyPr/>
          <a:lstStyle/>
          <a:p>
            <a:endParaRPr lang="en-US"/>
          </a:p>
        </p:txBody>
      </p:sp>
      <p:sp>
        <p:nvSpPr>
          <p:cNvPr id="22" name="Text 20"/>
          <p:cNvSpPr/>
          <p:nvPr/>
        </p:nvSpPr>
        <p:spPr>
          <a:xfrm>
            <a:off x="274320" y="2880360"/>
            <a:ext cx="1188720" cy="4572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IoT Devices</a:t>
            </a:r>
            <a:endParaRPr lang="en-US" sz="800" dirty="0"/>
          </a:p>
        </p:txBody>
      </p:sp>
      <p:sp>
        <p:nvSpPr>
          <p:cNvPr id="23" name="Text 21"/>
          <p:cNvSpPr/>
          <p:nvPr/>
        </p:nvSpPr>
        <p:spPr>
          <a:xfrm>
            <a:off x="228600" y="3429000"/>
            <a:ext cx="1280160" cy="365760"/>
          </a:xfrm>
          <a:prstGeom prst="rect">
            <a:avLst/>
          </a:prstGeom>
          <a:noFill/>
          <a:ln/>
        </p:spPr>
        <p:txBody>
          <a:bodyPr wrap="square" rtlCol="0" anchor="t"/>
          <a:lstStyle/>
          <a:p>
            <a:pPr marL="0" indent="0" algn="ctr">
              <a:buNone/>
            </a:pPr>
            <a:r>
              <a:rPr lang="en-US" sz="700" dirty="0">
                <a:solidFill>
                  <a:srgbClr val="A0A0C0"/>
                </a:solidFill>
                <a:latin typeface="Segoe UI Light" pitchFamily="34" charset="0"/>
                <a:ea typeface="Segoe UI Light" pitchFamily="34" charset="-122"/>
                <a:cs typeface="Segoe UI Light" pitchFamily="34" charset="-120"/>
              </a:rPr>
              <a:t>MQTT/HTTPS</a:t>
            </a:r>
            <a:endParaRPr lang="en-US" sz="700" dirty="0"/>
          </a:p>
        </p:txBody>
      </p:sp>
      <p:sp>
        <p:nvSpPr>
          <p:cNvPr id="24" name="Shape 22"/>
          <p:cNvSpPr/>
          <p:nvPr/>
        </p:nvSpPr>
        <p:spPr>
          <a:xfrm>
            <a:off x="1737360" y="2377440"/>
            <a:ext cx="1005840" cy="1005840"/>
          </a:xfrm>
          <a:prstGeom prst="roundRect">
            <a:avLst>
              <a:gd name="adj" fmla="val 7273"/>
            </a:avLst>
          </a:prstGeom>
          <a:solidFill>
            <a:srgbClr val="0A0E3A"/>
          </a:solidFill>
          <a:ln w="19050">
            <a:solidFill>
              <a:srgbClr val="FFFFFF"/>
            </a:solidFill>
            <a:prstDash val="solid"/>
          </a:ln>
        </p:spPr>
        <p:txBody>
          <a:bodyPr/>
          <a:lstStyle/>
          <a:p>
            <a:endParaRPr lang="en-US"/>
          </a:p>
        </p:txBody>
      </p:sp>
      <p:sp>
        <p:nvSpPr>
          <p:cNvPr id="25" name="Shape 23"/>
          <p:cNvSpPr/>
          <p:nvPr/>
        </p:nvSpPr>
        <p:spPr>
          <a:xfrm>
            <a:off x="2057400" y="2514600"/>
            <a:ext cx="365760" cy="365760"/>
          </a:xfrm>
          <a:prstGeom prst="ellipse">
            <a:avLst/>
          </a:prstGeom>
          <a:solidFill>
            <a:srgbClr val="FFFFFF"/>
          </a:solidFill>
          <a:ln/>
        </p:spPr>
        <p:txBody>
          <a:bodyPr/>
          <a:lstStyle/>
          <a:p>
            <a:endParaRPr lang="en-US"/>
          </a:p>
        </p:txBody>
      </p:sp>
      <p:sp>
        <p:nvSpPr>
          <p:cNvPr id="26" name="Text 24"/>
          <p:cNvSpPr/>
          <p:nvPr/>
        </p:nvSpPr>
        <p:spPr>
          <a:xfrm>
            <a:off x="1645920" y="2880360"/>
            <a:ext cx="1188720" cy="4572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AWS IoT Core</a:t>
            </a:r>
            <a:endParaRPr lang="en-US" sz="800" dirty="0"/>
          </a:p>
        </p:txBody>
      </p:sp>
      <p:sp>
        <p:nvSpPr>
          <p:cNvPr id="27" name="Text 25"/>
          <p:cNvSpPr/>
          <p:nvPr/>
        </p:nvSpPr>
        <p:spPr>
          <a:xfrm>
            <a:off x="1600200" y="3429000"/>
            <a:ext cx="1280160" cy="365760"/>
          </a:xfrm>
          <a:prstGeom prst="rect">
            <a:avLst/>
          </a:prstGeom>
          <a:noFill/>
          <a:ln/>
        </p:spPr>
        <p:txBody>
          <a:bodyPr wrap="square" rtlCol="0" anchor="t"/>
          <a:lstStyle/>
          <a:p>
            <a:pPr marL="0" indent="0" algn="ctr">
              <a:buNone/>
            </a:pPr>
            <a:r>
              <a:rPr lang="en-US" sz="700" dirty="0">
                <a:solidFill>
                  <a:srgbClr val="A0A0C0"/>
                </a:solidFill>
                <a:latin typeface="Segoe UI Light" pitchFamily="34" charset="0"/>
                <a:ea typeface="Segoe UI Light" pitchFamily="34" charset="-122"/>
                <a:cs typeface="Segoe UI Light" pitchFamily="34" charset="-120"/>
              </a:rPr>
              <a:t>Rules Engine</a:t>
            </a:r>
            <a:endParaRPr lang="en-US" sz="700" dirty="0"/>
          </a:p>
        </p:txBody>
      </p:sp>
      <p:sp>
        <p:nvSpPr>
          <p:cNvPr id="28" name="Shape 26"/>
          <p:cNvSpPr/>
          <p:nvPr/>
        </p:nvSpPr>
        <p:spPr>
          <a:xfrm>
            <a:off x="3108960" y="2377440"/>
            <a:ext cx="1005840" cy="1005840"/>
          </a:xfrm>
          <a:prstGeom prst="roundRect">
            <a:avLst>
              <a:gd name="adj" fmla="val 7273"/>
            </a:avLst>
          </a:prstGeom>
          <a:solidFill>
            <a:srgbClr val="0A0E3A"/>
          </a:solidFill>
          <a:ln w="19050">
            <a:solidFill>
              <a:srgbClr val="7B5EA7"/>
            </a:solidFill>
            <a:prstDash val="solid"/>
          </a:ln>
        </p:spPr>
        <p:txBody>
          <a:bodyPr/>
          <a:lstStyle/>
          <a:p>
            <a:endParaRPr lang="en-US"/>
          </a:p>
        </p:txBody>
      </p:sp>
      <p:sp>
        <p:nvSpPr>
          <p:cNvPr id="29" name="Shape 27"/>
          <p:cNvSpPr/>
          <p:nvPr/>
        </p:nvSpPr>
        <p:spPr>
          <a:xfrm>
            <a:off x="3429000" y="2514600"/>
            <a:ext cx="365760" cy="365760"/>
          </a:xfrm>
          <a:prstGeom prst="ellipse">
            <a:avLst/>
          </a:prstGeom>
          <a:solidFill>
            <a:srgbClr val="7B5EA7"/>
          </a:solidFill>
          <a:ln/>
        </p:spPr>
        <p:txBody>
          <a:bodyPr/>
          <a:lstStyle/>
          <a:p>
            <a:endParaRPr lang="en-US"/>
          </a:p>
        </p:txBody>
      </p:sp>
      <p:sp>
        <p:nvSpPr>
          <p:cNvPr id="30" name="Text 28"/>
          <p:cNvSpPr/>
          <p:nvPr/>
        </p:nvSpPr>
        <p:spPr>
          <a:xfrm>
            <a:off x="3017520" y="2880360"/>
            <a:ext cx="1188720" cy="4572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Kinesis Data</a:t>
            </a:r>
            <a:endParaRPr lang="en-US" sz="800" dirty="0"/>
          </a:p>
          <a:p>
            <a:pPr marL="0" indent="0" algn="ctr">
              <a:buNone/>
            </a:pPr>
            <a:r>
              <a:rPr lang="en-US" sz="800" b="1" dirty="0">
                <a:solidFill>
                  <a:srgbClr val="FFFFFF"/>
                </a:solidFill>
                <a:latin typeface="Segoe UI" pitchFamily="34" charset="0"/>
                <a:ea typeface="Segoe UI" pitchFamily="34" charset="-122"/>
                <a:cs typeface="Segoe UI" pitchFamily="34" charset="-120"/>
              </a:rPr>
              <a:t>Streams</a:t>
            </a:r>
            <a:endParaRPr lang="en-US" sz="800" dirty="0"/>
          </a:p>
        </p:txBody>
      </p:sp>
      <p:sp>
        <p:nvSpPr>
          <p:cNvPr id="31" name="Text 29"/>
          <p:cNvSpPr/>
          <p:nvPr/>
        </p:nvSpPr>
        <p:spPr>
          <a:xfrm>
            <a:off x="2971800" y="3429000"/>
            <a:ext cx="1280160" cy="365760"/>
          </a:xfrm>
          <a:prstGeom prst="rect">
            <a:avLst/>
          </a:prstGeom>
          <a:noFill/>
          <a:ln/>
        </p:spPr>
        <p:txBody>
          <a:bodyPr wrap="square" rtlCol="0" anchor="t"/>
          <a:lstStyle/>
          <a:p>
            <a:pPr marL="0" indent="0" algn="ctr">
              <a:buNone/>
            </a:pPr>
            <a:r>
              <a:rPr lang="en-US" sz="700" dirty="0">
                <a:solidFill>
                  <a:srgbClr val="A0A0C0"/>
                </a:solidFill>
                <a:latin typeface="Segoe UI Light" pitchFamily="34" charset="0"/>
                <a:ea typeface="Segoe UI Light" pitchFamily="34" charset="-122"/>
                <a:cs typeface="Segoe UI Light" pitchFamily="34" charset="-120"/>
              </a:rPr>
              <a:t>Buffer</a:t>
            </a:r>
            <a:endParaRPr lang="en-US" sz="700" dirty="0"/>
          </a:p>
        </p:txBody>
      </p:sp>
      <p:sp>
        <p:nvSpPr>
          <p:cNvPr id="32" name="Shape 30"/>
          <p:cNvSpPr/>
          <p:nvPr/>
        </p:nvSpPr>
        <p:spPr>
          <a:xfrm>
            <a:off x="4572000" y="2377440"/>
            <a:ext cx="1005840" cy="1005840"/>
          </a:xfrm>
          <a:prstGeom prst="roundRect">
            <a:avLst>
              <a:gd name="adj" fmla="val 7273"/>
            </a:avLst>
          </a:prstGeom>
          <a:solidFill>
            <a:srgbClr val="0A0E3A"/>
          </a:solidFill>
          <a:ln w="19050">
            <a:solidFill>
              <a:srgbClr val="7B5EA7"/>
            </a:solidFill>
            <a:prstDash val="solid"/>
          </a:ln>
        </p:spPr>
        <p:txBody>
          <a:bodyPr/>
          <a:lstStyle/>
          <a:p>
            <a:endParaRPr lang="en-US"/>
          </a:p>
        </p:txBody>
      </p:sp>
      <p:sp>
        <p:nvSpPr>
          <p:cNvPr id="33" name="Shape 31"/>
          <p:cNvSpPr/>
          <p:nvPr/>
        </p:nvSpPr>
        <p:spPr>
          <a:xfrm>
            <a:off x="4892040" y="2514600"/>
            <a:ext cx="365760" cy="365760"/>
          </a:xfrm>
          <a:prstGeom prst="ellipse">
            <a:avLst/>
          </a:prstGeom>
          <a:solidFill>
            <a:srgbClr val="7B5EA7"/>
          </a:solidFill>
          <a:ln/>
        </p:spPr>
        <p:txBody>
          <a:bodyPr/>
          <a:lstStyle/>
          <a:p>
            <a:endParaRPr lang="en-US"/>
          </a:p>
        </p:txBody>
      </p:sp>
      <p:sp>
        <p:nvSpPr>
          <p:cNvPr id="34" name="Text 32"/>
          <p:cNvSpPr/>
          <p:nvPr/>
        </p:nvSpPr>
        <p:spPr>
          <a:xfrm>
            <a:off x="4480560" y="2880360"/>
            <a:ext cx="1188720" cy="4572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Data Firehose</a:t>
            </a:r>
            <a:endParaRPr lang="en-US" sz="800" dirty="0"/>
          </a:p>
        </p:txBody>
      </p:sp>
      <p:sp>
        <p:nvSpPr>
          <p:cNvPr id="35" name="Text 33"/>
          <p:cNvSpPr/>
          <p:nvPr/>
        </p:nvSpPr>
        <p:spPr>
          <a:xfrm>
            <a:off x="4434840" y="3429000"/>
            <a:ext cx="1280160" cy="365760"/>
          </a:xfrm>
          <a:prstGeom prst="rect">
            <a:avLst/>
          </a:prstGeom>
          <a:noFill/>
          <a:ln/>
        </p:spPr>
        <p:txBody>
          <a:bodyPr wrap="square" rtlCol="0" anchor="t"/>
          <a:lstStyle/>
          <a:p>
            <a:pPr marL="0" indent="0" algn="ctr">
              <a:buNone/>
            </a:pPr>
            <a:r>
              <a:rPr lang="en-US" sz="700" dirty="0">
                <a:solidFill>
                  <a:srgbClr val="A0A0C0"/>
                </a:solidFill>
                <a:latin typeface="Segoe UI Light" pitchFamily="34" charset="0"/>
                <a:ea typeface="Segoe UI Light" pitchFamily="34" charset="-122"/>
                <a:cs typeface="Segoe UI Light" pitchFamily="34" charset="-120"/>
              </a:rPr>
              <a:t>Transform</a:t>
            </a:r>
            <a:endParaRPr lang="en-US" sz="700" dirty="0"/>
          </a:p>
        </p:txBody>
      </p:sp>
      <p:sp>
        <p:nvSpPr>
          <p:cNvPr id="36" name="Shape 34"/>
          <p:cNvSpPr/>
          <p:nvPr/>
        </p:nvSpPr>
        <p:spPr>
          <a:xfrm>
            <a:off x="6126480" y="2377440"/>
            <a:ext cx="1005840" cy="1005840"/>
          </a:xfrm>
          <a:prstGeom prst="roundRect">
            <a:avLst>
              <a:gd name="adj" fmla="val 7273"/>
            </a:avLst>
          </a:prstGeom>
          <a:solidFill>
            <a:srgbClr val="0A0E3A"/>
          </a:solidFill>
          <a:ln w="19050">
            <a:solidFill>
              <a:srgbClr val="7AB648"/>
            </a:solidFill>
            <a:prstDash val="solid"/>
          </a:ln>
        </p:spPr>
        <p:txBody>
          <a:bodyPr/>
          <a:lstStyle/>
          <a:p>
            <a:endParaRPr lang="en-US"/>
          </a:p>
        </p:txBody>
      </p:sp>
      <p:sp>
        <p:nvSpPr>
          <p:cNvPr id="37" name="Shape 35"/>
          <p:cNvSpPr/>
          <p:nvPr/>
        </p:nvSpPr>
        <p:spPr>
          <a:xfrm>
            <a:off x="6446520" y="2514600"/>
            <a:ext cx="365760" cy="365760"/>
          </a:xfrm>
          <a:prstGeom prst="ellipse">
            <a:avLst/>
          </a:prstGeom>
          <a:solidFill>
            <a:srgbClr val="7AB648"/>
          </a:solidFill>
          <a:ln/>
        </p:spPr>
        <p:txBody>
          <a:bodyPr/>
          <a:lstStyle/>
          <a:p>
            <a:endParaRPr lang="en-US"/>
          </a:p>
        </p:txBody>
      </p:sp>
      <p:sp>
        <p:nvSpPr>
          <p:cNvPr id="38" name="Text 36"/>
          <p:cNvSpPr/>
          <p:nvPr/>
        </p:nvSpPr>
        <p:spPr>
          <a:xfrm>
            <a:off x="6035040" y="2880360"/>
            <a:ext cx="1188720" cy="4572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Amazon S3</a:t>
            </a:r>
            <a:endParaRPr lang="en-US" sz="800" dirty="0"/>
          </a:p>
          <a:p>
            <a:pPr marL="0" indent="0" algn="ctr">
              <a:buNone/>
            </a:pPr>
            <a:r>
              <a:rPr lang="en-US" sz="800" b="1" dirty="0">
                <a:solidFill>
                  <a:srgbClr val="FFFFFF"/>
                </a:solidFill>
                <a:latin typeface="Segoe UI" pitchFamily="34" charset="0"/>
                <a:ea typeface="Segoe UI" pitchFamily="34" charset="-122"/>
                <a:cs typeface="Segoe UI" pitchFamily="34" charset="-120"/>
              </a:rPr>
              <a:t>Tables</a:t>
            </a:r>
            <a:endParaRPr lang="en-US" sz="800" dirty="0"/>
          </a:p>
        </p:txBody>
      </p:sp>
      <p:sp>
        <p:nvSpPr>
          <p:cNvPr id="39" name="Text 37"/>
          <p:cNvSpPr/>
          <p:nvPr/>
        </p:nvSpPr>
        <p:spPr>
          <a:xfrm>
            <a:off x="5989320" y="3429000"/>
            <a:ext cx="1280160" cy="365760"/>
          </a:xfrm>
          <a:prstGeom prst="rect">
            <a:avLst/>
          </a:prstGeom>
          <a:noFill/>
          <a:ln/>
        </p:spPr>
        <p:txBody>
          <a:bodyPr wrap="square" rtlCol="0" anchor="t"/>
          <a:lstStyle/>
          <a:p>
            <a:pPr marL="0" indent="0" algn="ctr">
              <a:buNone/>
            </a:pPr>
            <a:r>
              <a:rPr lang="en-US" sz="700" dirty="0">
                <a:solidFill>
                  <a:srgbClr val="A0A0C0"/>
                </a:solidFill>
                <a:latin typeface="Segoe UI Light" pitchFamily="34" charset="0"/>
                <a:ea typeface="Segoe UI Light" pitchFamily="34" charset="-122"/>
                <a:cs typeface="Segoe UI Light" pitchFamily="34" charset="-120"/>
              </a:rPr>
              <a:t>Transaction events data</a:t>
            </a:r>
            <a:endParaRPr lang="en-US" sz="700" dirty="0"/>
          </a:p>
        </p:txBody>
      </p:sp>
      <p:sp>
        <p:nvSpPr>
          <p:cNvPr id="40" name="Shape 38"/>
          <p:cNvSpPr/>
          <p:nvPr/>
        </p:nvSpPr>
        <p:spPr>
          <a:xfrm>
            <a:off x="7772400" y="2377440"/>
            <a:ext cx="1005840" cy="1005840"/>
          </a:xfrm>
          <a:prstGeom prst="roundRect">
            <a:avLst>
              <a:gd name="adj" fmla="val 7273"/>
            </a:avLst>
          </a:prstGeom>
          <a:solidFill>
            <a:srgbClr val="0A0E3A"/>
          </a:solidFill>
          <a:ln w="19050">
            <a:solidFill>
              <a:srgbClr val="FF2D8A"/>
            </a:solidFill>
            <a:prstDash val="solid"/>
          </a:ln>
        </p:spPr>
        <p:txBody>
          <a:bodyPr/>
          <a:lstStyle/>
          <a:p>
            <a:endParaRPr lang="en-US"/>
          </a:p>
        </p:txBody>
      </p:sp>
      <p:sp>
        <p:nvSpPr>
          <p:cNvPr id="41" name="Shape 39"/>
          <p:cNvSpPr/>
          <p:nvPr/>
        </p:nvSpPr>
        <p:spPr>
          <a:xfrm>
            <a:off x="8092440" y="2514600"/>
            <a:ext cx="365760" cy="365760"/>
          </a:xfrm>
          <a:prstGeom prst="ellipse">
            <a:avLst/>
          </a:prstGeom>
          <a:solidFill>
            <a:srgbClr val="FF2D8A"/>
          </a:solidFill>
          <a:ln/>
        </p:spPr>
        <p:txBody>
          <a:bodyPr/>
          <a:lstStyle/>
          <a:p>
            <a:endParaRPr lang="en-US"/>
          </a:p>
        </p:txBody>
      </p:sp>
      <p:sp>
        <p:nvSpPr>
          <p:cNvPr id="42" name="Text 40"/>
          <p:cNvSpPr/>
          <p:nvPr/>
        </p:nvSpPr>
        <p:spPr>
          <a:xfrm>
            <a:off x="7680960" y="2880360"/>
            <a:ext cx="1188720" cy="4572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QuickSight</a:t>
            </a:r>
            <a:endParaRPr lang="en-US" sz="800" dirty="0"/>
          </a:p>
          <a:p>
            <a:pPr marL="0" indent="0" algn="ctr">
              <a:buNone/>
            </a:pPr>
            <a:r>
              <a:rPr lang="en-US" sz="800" b="1" dirty="0">
                <a:solidFill>
                  <a:srgbClr val="FFFFFF"/>
                </a:solidFill>
                <a:latin typeface="Segoe UI" pitchFamily="34" charset="0"/>
                <a:ea typeface="Segoe UI" pitchFamily="34" charset="-122"/>
                <a:cs typeface="Segoe UI" pitchFamily="34" charset="-120"/>
              </a:rPr>
              <a:t>DataSource</a:t>
            </a:r>
            <a:endParaRPr lang="en-US" sz="800" dirty="0"/>
          </a:p>
        </p:txBody>
      </p:sp>
      <p:sp>
        <p:nvSpPr>
          <p:cNvPr id="43" name="Text 41"/>
          <p:cNvSpPr/>
          <p:nvPr/>
        </p:nvSpPr>
        <p:spPr>
          <a:xfrm>
            <a:off x="7635240" y="3429000"/>
            <a:ext cx="1280160" cy="365760"/>
          </a:xfrm>
          <a:prstGeom prst="rect">
            <a:avLst/>
          </a:prstGeom>
          <a:noFill/>
          <a:ln/>
        </p:spPr>
        <p:txBody>
          <a:bodyPr wrap="square" rtlCol="0" anchor="t"/>
          <a:lstStyle/>
          <a:p>
            <a:pPr marL="0" indent="0" algn="ctr">
              <a:buNone/>
            </a:pPr>
            <a:r>
              <a:rPr lang="en-US" sz="700" dirty="0">
                <a:solidFill>
                  <a:srgbClr val="A0A0C0"/>
                </a:solidFill>
                <a:latin typeface="Segoe UI Light" pitchFamily="34" charset="0"/>
                <a:ea typeface="Segoe UI Light" pitchFamily="34" charset="-122"/>
                <a:cs typeface="Segoe UI Light" pitchFamily="34" charset="-120"/>
              </a:rPr>
              <a:t>S3 Tables connector</a:t>
            </a:r>
            <a:endParaRPr lang="en-US" sz="700" dirty="0"/>
          </a:p>
        </p:txBody>
      </p:sp>
      <p:sp>
        <p:nvSpPr>
          <p:cNvPr id="44" name="Shape 42"/>
          <p:cNvSpPr/>
          <p:nvPr/>
        </p:nvSpPr>
        <p:spPr>
          <a:xfrm>
            <a:off x="9235440" y="2377440"/>
            <a:ext cx="1005840" cy="1005840"/>
          </a:xfrm>
          <a:prstGeom prst="roundRect">
            <a:avLst>
              <a:gd name="adj" fmla="val 7273"/>
            </a:avLst>
          </a:prstGeom>
          <a:solidFill>
            <a:srgbClr val="0A0E3A"/>
          </a:solidFill>
          <a:ln w="19050">
            <a:solidFill>
              <a:srgbClr val="FF2D8A"/>
            </a:solidFill>
            <a:prstDash val="solid"/>
          </a:ln>
        </p:spPr>
        <p:txBody>
          <a:bodyPr/>
          <a:lstStyle/>
          <a:p>
            <a:endParaRPr lang="en-US"/>
          </a:p>
        </p:txBody>
      </p:sp>
      <p:sp>
        <p:nvSpPr>
          <p:cNvPr id="45" name="Shape 43"/>
          <p:cNvSpPr/>
          <p:nvPr/>
        </p:nvSpPr>
        <p:spPr>
          <a:xfrm>
            <a:off x="9555480" y="2514600"/>
            <a:ext cx="365760" cy="365760"/>
          </a:xfrm>
          <a:prstGeom prst="ellipse">
            <a:avLst/>
          </a:prstGeom>
          <a:solidFill>
            <a:srgbClr val="FF2D8A"/>
          </a:solidFill>
          <a:ln/>
        </p:spPr>
        <p:txBody>
          <a:bodyPr/>
          <a:lstStyle/>
          <a:p>
            <a:endParaRPr lang="en-US"/>
          </a:p>
        </p:txBody>
      </p:sp>
      <p:sp>
        <p:nvSpPr>
          <p:cNvPr id="46" name="Text 44"/>
          <p:cNvSpPr/>
          <p:nvPr/>
        </p:nvSpPr>
        <p:spPr>
          <a:xfrm>
            <a:off x="9144000" y="2880360"/>
            <a:ext cx="1188720" cy="4572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QuickSight</a:t>
            </a:r>
            <a:endParaRPr lang="en-US" sz="800" dirty="0"/>
          </a:p>
          <a:p>
            <a:pPr marL="0" indent="0" algn="ctr">
              <a:buNone/>
            </a:pPr>
            <a:r>
              <a:rPr lang="en-US" sz="800" b="1" dirty="0">
                <a:solidFill>
                  <a:srgbClr val="FFFFFF"/>
                </a:solidFill>
                <a:latin typeface="Segoe UI" pitchFamily="34" charset="0"/>
                <a:ea typeface="Segoe UI" pitchFamily="34" charset="-122"/>
                <a:cs typeface="Segoe UI" pitchFamily="34" charset="-120"/>
              </a:rPr>
              <a:t>DataSet</a:t>
            </a:r>
            <a:endParaRPr lang="en-US" sz="800" dirty="0"/>
          </a:p>
        </p:txBody>
      </p:sp>
      <p:sp>
        <p:nvSpPr>
          <p:cNvPr id="47" name="Text 45"/>
          <p:cNvSpPr/>
          <p:nvPr/>
        </p:nvSpPr>
        <p:spPr>
          <a:xfrm>
            <a:off x="9098280" y="3429000"/>
            <a:ext cx="1280160" cy="365760"/>
          </a:xfrm>
          <a:prstGeom prst="rect">
            <a:avLst/>
          </a:prstGeom>
          <a:noFill/>
          <a:ln/>
        </p:spPr>
        <p:txBody>
          <a:bodyPr wrap="square" rtlCol="0" anchor="t"/>
          <a:lstStyle/>
          <a:p>
            <a:pPr marL="0" indent="0" algn="ctr">
              <a:buNone/>
            </a:pPr>
            <a:r>
              <a:rPr lang="en-US" sz="700" dirty="0">
                <a:solidFill>
                  <a:srgbClr val="A0A0C0"/>
                </a:solidFill>
                <a:latin typeface="Segoe UI Light" pitchFamily="34" charset="0"/>
                <a:ea typeface="Segoe UI Light" pitchFamily="34" charset="-122"/>
                <a:cs typeface="Segoe UI Light" pitchFamily="34" charset="-120"/>
              </a:rPr>
              <a:t>Direct Query</a:t>
            </a:r>
            <a:endParaRPr lang="en-US" sz="700" dirty="0"/>
          </a:p>
        </p:txBody>
      </p:sp>
      <p:sp>
        <p:nvSpPr>
          <p:cNvPr id="48" name="Shape 46"/>
          <p:cNvSpPr/>
          <p:nvPr/>
        </p:nvSpPr>
        <p:spPr>
          <a:xfrm>
            <a:off x="10698480" y="2377440"/>
            <a:ext cx="1005840" cy="1005840"/>
          </a:xfrm>
          <a:prstGeom prst="roundRect">
            <a:avLst>
              <a:gd name="adj" fmla="val 7273"/>
            </a:avLst>
          </a:prstGeom>
          <a:solidFill>
            <a:srgbClr val="0A0E3A"/>
          </a:solidFill>
          <a:ln w="19050">
            <a:solidFill>
              <a:srgbClr val="FF2D8A"/>
            </a:solidFill>
            <a:prstDash val="solid"/>
          </a:ln>
        </p:spPr>
        <p:txBody>
          <a:bodyPr/>
          <a:lstStyle/>
          <a:p>
            <a:endParaRPr lang="en-US"/>
          </a:p>
        </p:txBody>
      </p:sp>
      <p:sp>
        <p:nvSpPr>
          <p:cNvPr id="49" name="Shape 47"/>
          <p:cNvSpPr/>
          <p:nvPr/>
        </p:nvSpPr>
        <p:spPr>
          <a:xfrm>
            <a:off x="11018520" y="2514600"/>
            <a:ext cx="365760" cy="365760"/>
          </a:xfrm>
          <a:prstGeom prst="ellipse">
            <a:avLst/>
          </a:prstGeom>
          <a:solidFill>
            <a:srgbClr val="FF2D8A"/>
          </a:solidFill>
          <a:ln/>
        </p:spPr>
        <p:txBody>
          <a:bodyPr/>
          <a:lstStyle/>
          <a:p>
            <a:endParaRPr lang="en-US"/>
          </a:p>
        </p:txBody>
      </p:sp>
      <p:sp>
        <p:nvSpPr>
          <p:cNvPr id="50" name="Text 48"/>
          <p:cNvSpPr/>
          <p:nvPr/>
        </p:nvSpPr>
        <p:spPr>
          <a:xfrm>
            <a:off x="10607040" y="2880360"/>
            <a:ext cx="1188720" cy="4572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Dashboards</a:t>
            </a:r>
            <a:endParaRPr lang="en-US" sz="800" dirty="0"/>
          </a:p>
          <a:p>
            <a:pPr marL="0" indent="0" algn="ctr">
              <a:buNone/>
            </a:pPr>
            <a:r>
              <a:rPr lang="en-US" sz="800" b="1" dirty="0">
                <a:solidFill>
                  <a:srgbClr val="FFFFFF"/>
                </a:solidFill>
                <a:latin typeface="Segoe UI" pitchFamily="34" charset="0"/>
                <a:ea typeface="Segoe UI" pitchFamily="34" charset="-122"/>
                <a:cs typeface="Segoe UI" pitchFamily="34" charset="-120"/>
              </a:rPr>
              <a:t>&amp; Chat Agent</a:t>
            </a:r>
            <a:endParaRPr lang="en-US" sz="800" dirty="0"/>
          </a:p>
        </p:txBody>
      </p:sp>
      <p:sp>
        <p:nvSpPr>
          <p:cNvPr id="51" name="Text 49"/>
          <p:cNvSpPr/>
          <p:nvPr/>
        </p:nvSpPr>
        <p:spPr>
          <a:xfrm>
            <a:off x="10561320" y="3429000"/>
            <a:ext cx="1280160" cy="365760"/>
          </a:xfrm>
          <a:prstGeom prst="rect">
            <a:avLst/>
          </a:prstGeom>
          <a:noFill/>
          <a:ln/>
        </p:spPr>
        <p:txBody>
          <a:bodyPr wrap="square" rtlCol="0" anchor="t"/>
          <a:lstStyle/>
          <a:p>
            <a:pPr marL="0" indent="0" algn="ctr">
              <a:buNone/>
            </a:pPr>
            <a:r>
              <a:rPr lang="en-US" sz="700" dirty="0">
                <a:solidFill>
                  <a:srgbClr val="A0A0C0"/>
                </a:solidFill>
                <a:latin typeface="Segoe UI Light" pitchFamily="34" charset="0"/>
                <a:ea typeface="Segoe UI Light" pitchFamily="34" charset="-122"/>
                <a:cs typeface="Segoe UI Light" pitchFamily="34" charset="-120"/>
              </a:rPr>
              <a:t>Business Users</a:t>
            </a:r>
            <a:endParaRPr lang="en-US" sz="700" dirty="0"/>
          </a:p>
        </p:txBody>
      </p:sp>
      <p:sp>
        <p:nvSpPr>
          <p:cNvPr id="52" name="Shape 50"/>
          <p:cNvSpPr/>
          <p:nvPr/>
        </p:nvSpPr>
        <p:spPr>
          <a:xfrm>
            <a:off x="4114800" y="4754880"/>
            <a:ext cx="1828800" cy="731520"/>
          </a:xfrm>
          <a:prstGeom prst="roundRect">
            <a:avLst>
              <a:gd name="adj" fmla="val 6250"/>
            </a:avLst>
          </a:prstGeom>
          <a:solidFill>
            <a:srgbClr val="0A0E3A"/>
          </a:solidFill>
          <a:ln w="15240">
            <a:solidFill>
              <a:srgbClr val="7AB648"/>
            </a:solidFill>
            <a:prstDash val="solid"/>
          </a:ln>
        </p:spPr>
        <p:txBody>
          <a:bodyPr/>
          <a:lstStyle/>
          <a:p>
            <a:endParaRPr lang="en-US"/>
          </a:p>
        </p:txBody>
      </p:sp>
      <p:sp>
        <p:nvSpPr>
          <p:cNvPr id="53" name="Text 51"/>
          <p:cNvSpPr/>
          <p:nvPr/>
        </p:nvSpPr>
        <p:spPr>
          <a:xfrm>
            <a:off x="4114800" y="4800600"/>
            <a:ext cx="1828800" cy="640080"/>
          </a:xfrm>
          <a:prstGeom prst="rect">
            <a:avLst/>
          </a:prstGeom>
          <a:noFill/>
          <a:ln/>
        </p:spPr>
        <p:txBody>
          <a:bodyPr wrap="square" rtlCol="0" anchor="ctr"/>
          <a:lstStyle/>
          <a:p>
            <a:pPr marL="0" indent="0" algn="ctr">
              <a:buNone/>
            </a:pPr>
            <a:r>
              <a:rPr lang="en-US" sz="800" dirty="0">
                <a:solidFill>
                  <a:srgbClr val="FFFFFF"/>
                </a:solidFill>
                <a:latin typeface="Segoe UI" pitchFamily="34" charset="0"/>
                <a:ea typeface="Segoe UI" pitchFamily="34" charset="-122"/>
                <a:cs typeface="Segoe UI" pitchFamily="34" charset="-120"/>
              </a:rPr>
              <a:t>Amazon S3</a:t>
            </a:r>
            <a:endParaRPr lang="en-US" sz="800" dirty="0"/>
          </a:p>
          <a:p>
            <a:pPr marL="0" indent="0" algn="ctr">
              <a:buNone/>
            </a:pPr>
            <a:r>
              <a:rPr lang="en-US" sz="800" dirty="0">
                <a:solidFill>
                  <a:srgbClr val="FFFFFF"/>
                </a:solidFill>
                <a:latin typeface="Segoe UI" pitchFamily="34" charset="0"/>
                <a:ea typeface="Segoe UI" pitchFamily="34" charset="-122"/>
                <a:cs typeface="Segoe UI" pitchFamily="34" charset="-120"/>
              </a:rPr>
              <a:t>Static dim data</a:t>
            </a:r>
            <a:endParaRPr lang="en-US" sz="800" dirty="0"/>
          </a:p>
        </p:txBody>
      </p:sp>
      <p:sp>
        <p:nvSpPr>
          <p:cNvPr id="54" name="Shape 52"/>
          <p:cNvSpPr/>
          <p:nvPr/>
        </p:nvSpPr>
        <p:spPr>
          <a:xfrm>
            <a:off x="5943600" y="5102352"/>
            <a:ext cx="914400" cy="27432"/>
          </a:xfrm>
          <a:prstGeom prst="rect">
            <a:avLst/>
          </a:prstGeom>
          <a:solidFill>
            <a:srgbClr val="FFFFFF"/>
          </a:solidFill>
          <a:ln/>
        </p:spPr>
        <p:txBody>
          <a:bodyPr/>
          <a:lstStyle/>
          <a:p>
            <a:endParaRPr lang="en-US"/>
          </a:p>
        </p:txBody>
      </p:sp>
      <p:sp>
        <p:nvSpPr>
          <p:cNvPr id="56" name="Shape 54"/>
          <p:cNvSpPr/>
          <p:nvPr/>
        </p:nvSpPr>
        <p:spPr>
          <a:xfrm>
            <a:off x="6858000" y="4754880"/>
            <a:ext cx="1828800" cy="731520"/>
          </a:xfrm>
          <a:prstGeom prst="roundRect">
            <a:avLst>
              <a:gd name="adj" fmla="val 6250"/>
            </a:avLst>
          </a:prstGeom>
          <a:solidFill>
            <a:srgbClr val="0A0E3A"/>
          </a:solidFill>
          <a:ln w="15240">
            <a:solidFill>
              <a:srgbClr val="7B5EA7"/>
            </a:solidFill>
            <a:prstDash val="solid"/>
          </a:ln>
        </p:spPr>
        <p:txBody>
          <a:bodyPr/>
          <a:lstStyle/>
          <a:p>
            <a:endParaRPr lang="en-US"/>
          </a:p>
        </p:txBody>
      </p:sp>
      <p:sp>
        <p:nvSpPr>
          <p:cNvPr id="57" name="Text 55"/>
          <p:cNvSpPr/>
          <p:nvPr/>
        </p:nvSpPr>
        <p:spPr>
          <a:xfrm>
            <a:off x="6858000" y="4800600"/>
            <a:ext cx="1828800" cy="640080"/>
          </a:xfrm>
          <a:prstGeom prst="rect">
            <a:avLst/>
          </a:prstGeom>
          <a:noFill/>
          <a:ln/>
        </p:spPr>
        <p:txBody>
          <a:bodyPr wrap="square" rtlCol="0" anchor="ctr"/>
          <a:lstStyle/>
          <a:p>
            <a:pPr marL="0" indent="0" algn="ctr">
              <a:buNone/>
            </a:pPr>
            <a:r>
              <a:rPr lang="en-US" sz="800" dirty="0">
                <a:solidFill>
                  <a:srgbClr val="FFFFFF"/>
                </a:solidFill>
                <a:latin typeface="Segoe UI" pitchFamily="34" charset="0"/>
                <a:ea typeface="Segoe UI" pitchFamily="34" charset="-122"/>
                <a:cs typeface="Segoe UI" pitchFamily="34" charset="-120"/>
              </a:rPr>
              <a:t>AWS Glue</a:t>
            </a:r>
            <a:endParaRPr lang="en-US" sz="800" dirty="0"/>
          </a:p>
          <a:p>
            <a:pPr marL="0" indent="0" algn="ctr">
              <a:buNone/>
            </a:pPr>
            <a:r>
              <a:rPr lang="en-US" sz="800" dirty="0">
                <a:solidFill>
                  <a:srgbClr val="FFFFFF"/>
                </a:solidFill>
                <a:latin typeface="Segoe UI" pitchFamily="34" charset="0"/>
                <a:ea typeface="Segoe UI" pitchFamily="34" charset="-122"/>
                <a:cs typeface="Segoe UI" pitchFamily="34" charset="-120"/>
              </a:rPr>
              <a:t>Data Catalog</a:t>
            </a:r>
            <a:endParaRPr lang="en-US" sz="800" dirty="0"/>
          </a:p>
        </p:txBody>
      </p:sp>
      <p:sp>
        <p:nvSpPr>
          <p:cNvPr id="58" name="Shape 56"/>
          <p:cNvSpPr/>
          <p:nvPr/>
        </p:nvSpPr>
        <p:spPr>
          <a:xfrm>
            <a:off x="6583680" y="3749040"/>
            <a:ext cx="27432" cy="1005840"/>
          </a:xfrm>
          <a:prstGeom prst="rect">
            <a:avLst/>
          </a:prstGeom>
          <a:solidFill>
            <a:srgbClr val="FFFFFF"/>
          </a:solidFill>
          <a:ln/>
        </p:spPr>
        <p:txBody>
          <a:bodyPr/>
          <a:lstStyle/>
          <a:p>
            <a:endParaRPr lang="en-US"/>
          </a:p>
        </p:txBody>
      </p:sp>
      <p:sp>
        <p:nvSpPr>
          <p:cNvPr id="59" name="Shape 57"/>
          <p:cNvSpPr/>
          <p:nvPr/>
        </p:nvSpPr>
        <p:spPr>
          <a:xfrm>
            <a:off x="731520" y="5852160"/>
            <a:ext cx="10698480" cy="548640"/>
          </a:xfrm>
          <a:prstGeom prst="roundRect">
            <a:avLst>
              <a:gd name="adj" fmla="val 5000"/>
            </a:avLst>
          </a:prstGeom>
          <a:solidFill>
            <a:srgbClr val="120A3D"/>
          </a:solidFill>
          <a:ln w="10160">
            <a:solidFill>
              <a:srgbClr val="FF2D8A"/>
            </a:solidFill>
            <a:prstDash val="solid"/>
          </a:ln>
        </p:spPr>
        <p:txBody>
          <a:bodyPr/>
          <a:lstStyle/>
          <a:p>
            <a:endParaRPr lang="en-US"/>
          </a:p>
        </p:txBody>
      </p:sp>
      <p:sp>
        <p:nvSpPr>
          <p:cNvPr id="60" name="Text 58"/>
          <p:cNvSpPr/>
          <p:nvPr/>
        </p:nvSpPr>
        <p:spPr>
          <a:xfrm>
            <a:off x="914400" y="5897880"/>
            <a:ext cx="10332720" cy="457200"/>
          </a:xfrm>
          <a:prstGeom prst="rect">
            <a:avLst/>
          </a:prstGeom>
          <a:noFill/>
          <a:ln/>
        </p:spPr>
        <p:txBody>
          <a:bodyPr wrap="square" rtlCol="0" anchor="ctr"/>
          <a:lstStyle/>
          <a:p>
            <a:pPr marL="0" indent="0" algn="ctr">
              <a:buNone/>
            </a:pPr>
            <a:r>
              <a:rPr lang="en-US" sz="1100" b="1" dirty="0">
                <a:solidFill>
                  <a:srgbClr val="FF2D8A"/>
                </a:solidFill>
                <a:latin typeface="Segoe UI" pitchFamily="34" charset="0"/>
                <a:ea typeface="Segoe UI" pitchFamily="34" charset="-122"/>
                <a:cs typeface="Segoe UI" pitchFamily="34" charset="-120"/>
              </a:rPr>
              <a:t>⚡ Key Innovation: QuickSight queries S3 Tables directly — no Athena or Redshift intermediate layer required</a:t>
            </a:r>
            <a:endParaRPr lang="en-US" sz="1100" dirty="0"/>
          </a:p>
        </p:txBody>
      </p:sp>
      <p:sp>
        <p:nvSpPr>
          <p:cNvPr id="61" name="Text 59"/>
          <p:cNvSpPr/>
          <p:nvPr/>
        </p:nvSpPr>
        <p:spPr>
          <a:xfrm>
            <a:off x="10972800" y="6400800"/>
            <a:ext cx="914400" cy="274320"/>
          </a:xfrm>
          <a:prstGeom prst="rect">
            <a:avLst/>
          </a:prstGeom>
          <a:noFill/>
          <a:ln/>
        </p:spPr>
        <p:txBody>
          <a:bodyPr wrap="square" rtlCol="0" anchor="ctr"/>
          <a:lstStyle/>
          <a:p>
            <a:pPr marL="0" indent="0" algn="r">
              <a:buNone/>
            </a:pPr>
            <a:r>
              <a:rPr lang="en-US" sz="900" dirty="0">
                <a:solidFill>
                  <a:srgbClr val="666699"/>
                </a:solidFill>
                <a:latin typeface="Segoe UI" pitchFamily="34" charset="0"/>
                <a:ea typeface="Segoe UI" pitchFamily="34" charset="-122"/>
                <a:cs typeface="Segoe U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B2D"/>
        </a:solidFill>
        <a:effectLst/>
      </p:bgPr>
    </p:bg>
    <p:spTree>
      <p:nvGrpSpPr>
        <p:cNvPr id="1" name=""/>
        <p:cNvGrpSpPr/>
        <p:nvPr/>
      </p:nvGrpSpPr>
      <p:grpSpPr>
        <a:xfrm>
          <a:off x="0" y="0"/>
          <a:ext cx="0" cy="0"/>
          <a:chOff x="0" y="0"/>
          <a:chExt cx="0" cy="0"/>
        </a:xfrm>
      </p:grpSpPr>
      <p:sp>
        <p:nvSpPr>
          <p:cNvPr id="2" name="Shape 0"/>
          <p:cNvSpPr/>
          <p:nvPr/>
        </p:nvSpPr>
        <p:spPr>
          <a:xfrm>
            <a:off x="7772400" y="-1828800"/>
            <a:ext cx="6400800" cy="6400800"/>
          </a:xfrm>
          <a:prstGeom prst="ellipse">
            <a:avLst/>
          </a:prstGeom>
          <a:solidFill>
            <a:srgbClr val="6B0AC9"/>
          </a:solidFill>
          <a:ln/>
        </p:spPr>
        <p:txBody>
          <a:bodyPr/>
          <a:lstStyle/>
          <a:p>
            <a:endParaRPr lang="en-US"/>
          </a:p>
        </p:txBody>
      </p:sp>
      <p:sp>
        <p:nvSpPr>
          <p:cNvPr id="3" name="Shape 1"/>
          <p:cNvSpPr/>
          <p:nvPr/>
        </p:nvSpPr>
        <p:spPr>
          <a:xfrm>
            <a:off x="8686800" y="-1371600"/>
            <a:ext cx="4572000" cy="4572000"/>
          </a:xfrm>
          <a:prstGeom prst="ellipse">
            <a:avLst/>
          </a:prstGeom>
          <a:solidFill>
            <a:srgbClr val="4A07A0"/>
          </a:solidFill>
          <a:ln/>
        </p:spPr>
        <p:txBody>
          <a:bodyPr/>
          <a:lstStyle/>
          <a:p>
            <a:endParaRPr lang="en-US"/>
          </a:p>
        </p:txBody>
      </p:sp>
      <p:sp>
        <p:nvSpPr>
          <p:cNvPr id="4" name="Text 2"/>
          <p:cNvSpPr/>
          <p:nvPr/>
        </p:nvSpPr>
        <p:spPr>
          <a:xfrm>
            <a:off x="731520" y="365760"/>
            <a:ext cx="7315200" cy="548640"/>
          </a:xfrm>
          <a:prstGeom prst="rect">
            <a:avLst/>
          </a:prstGeom>
          <a:noFill/>
          <a:ln/>
        </p:spPr>
        <p:txBody>
          <a:bodyPr wrap="square" rtlCol="0" anchor="ctr"/>
          <a:lstStyle/>
          <a:p>
            <a:pPr marL="0" indent="0" algn="l">
              <a:buNone/>
            </a:pPr>
            <a:r>
              <a:rPr lang="en-US" sz="3200" kern="0" spc="200" dirty="0">
                <a:solidFill>
                  <a:srgbClr val="FFFFFF"/>
                </a:solidFill>
                <a:latin typeface="Segoe UI" pitchFamily="34" charset="0"/>
                <a:ea typeface="Segoe UI" pitchFamily="34" charset="-122"/>
                <a:cs typeface="Segoe UI" pitchFamily="34" charset="-120"/>
              </a:rPr>
              <a:t>DATA INGESTION LAYER</a:t>
            </a:r>
            <a:endParaRPr lang="en-US" sz="3200" dirty="0"/>
          </a:p>
        </p:txBody>
      </p:sp>
      <p:sp>
        <p:nvSpPr>
          <p:cNvPr id="5" name="Text 3"/>
          <p:cNvSpPr/>
          <p:nvPr/>
        </p:nvSpPr>
        <p:spPr>
          <a:xfrm>
            <a:off x="731520" y="914400"/>
            <a:ext cx="7315200" cy="320040"/>
          </a:xfrm>
          <a:prstGeom prst="rect">
            <a:avLst/>
          </a:prstGeom>
          <a:noFill/>
          <a:ln/>
        </p:spPr>
        <p:txBody>
          <a:bodyPr wrap="square" rtlCol="0" anchor="ctr"/>
          <a:lstStyle/>
          <a:p>
            <a:pPr marL="0" indent="0" algn="l">
              <a:buNone/>
            </a:pPr>
            <a:r>
              <a:rPr lang="en-US" sz="1400" dirty="0">
                <a:solidFill>
                  <a:srgbClr val="B8B8D0"/>
                </a:solidFill>
                <a:latin typeface="Segoe UI Light" pitchFamily="34" charset="0"/>
                <a:ea typeface="Segoe UI Light" pitchFamily="34" charset="-122"/>
                <a:cs typeface="Segoe UI Light" pitchFamily="34" charset="-120"/>
              </a:rPr>
              <a:t>Layers 1 &amp; 2: Device to Stream</a:t>
            </a:r>
            <a:endParaRPr lang="en-US" sz="1400" dirty="0"/>
          </a:p>
        </p:txBody>
      </p:sp>
      <p:sp>
        <p:nvSpPr>
          <p:cNvPr id="6" name="Shape 4"/>
          <p:cNvSpPr/>
          <p:nvPr/>
        </p:nvSpPr>
        <p:spPr>
          <a:xfrm>
            <a:off x="731520" y="1554480"/>
            <a:ext cx="3383280" cy="3657600"/>
          </a:xfrm>
          <a:prstGeom prst="roundRect">
            <a:avLst>
              <a:gd name="adj" fmla="val 1622"/>
            </a:avLst>
          </a:prstGeom>
          <a:solidFill>
            <a:srgbClr val="0D1147"/>
          </a:solidFill>
          <a:ln w="15240">
            <a:solidFill>
              <a:srgbClr val="FFFFFF"/>
            </a:solidFill>
            <a:prstDash val="solid"/>
          </a:ln>
        </p:spPr>
        <p:txBody>
          <a:bodyPr/>
          <a:lstStyle/>
          <a:p>
            <a:endParaRPr lang="en-US"/>
          </a:p>
        </p:txBody>
      </p:sp>
      <p:sp>
        <p:nvSpPr>
          <p:cNvPr id="7" name="Shape 5"/>
          <p:cNvSpPr/>
          <p:nvPr/>
        </p:nvSpPr>
        <p:spPr>
          <a:xfrm>
            <a:off x="731520" y="1554480"/>
            <a:ext cx="3383280" cy="54864"/>
          </a:xfrm>
          <a:prstGeom prst="rect">
            <a:avLst/>
          </a:prstGeom>
          <a:solidFill>
            <a:srgbClr val="FFFFFF"/>
          </a:solidFill>
          <a:ln/>
        </p:spPr>
        <p:txBody>
          <a:bodyPr/>
          <a:lstStyle/>
          <a:p>
            <a:endParaRPr lang="en-US"/>
          </a:p>
        </p:txBody>
      </p:sp>
      <p:sp>
        <p:nvSpPr>
          <p:cNvPr id="8" name="Shape 6"/>
          <p:cNvSpPr/>
          <p:nvPr/>
        </p:nvSpPr>
        <p:spPr>
          <a:xfrm>
            <a:off x="2057400" y="1920240"/>
            <a:ext cx="731520" cy="731520"/>
          </a:xfrm>
          <a:prstGeom prst="ellipse">
            <a:avLst/>
          </a:prstGeom>
          <a:solidFill>
            <a:srgbClr val="FFFFFF"/>
          </a:solidFill>
          <a:ln/>
        </p:spPr>
        <p:txBody>
          <a:bodyPr/>
          <a:lstStyle/>
          <a:p>
            <a:endParaRPr lang="en-US"/>
          </a:p>
        </p:txBody>
      </p:sp>
      <p:sp>
        <p:nvSpPr>
          <p:cNvPr id="9" name="Text 7"/>
          <p:cNvSpPr/>
          <p:nvPr/>
        </p:nvSpPr>
        <p:spPr>
          <a:xfrm>
            <a:off x="1005840" y="2834640"/>
            <a:ext cx="2834640" cy="4572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AWS IoT Core</a:t>
            </a:r>
            <a:endParaRPr lang="en-US" sz="1500" dirty="0"/>
          </a:p>
        </p:txBody>
      </p:sp>
      <p:sp>
        <p:nvSpPr>
          <p:cNvPr id="10" name="Text 8"/>
          <p:cNvSpPr/>
          <p:nvPr/>
        </p:nvSpPr>
        <p:spPr>
          <a:xfrm>
            <a:off x="1097280" y="3383280"/>
            <a:ext cx="2743200" cy="1645920"/>
          </a:xfrm>
          <a:prstGeom prst="rect">
            <a:avLst/>
          </a:prstGeom>
          <a:noFill/>
          <a:ln/>
        </p:spPr>
        <p:txBody>
          <a:bodyPr wrap="square" rtlCol="0" anchor="ctr"/>
          <a:lstStyle/>
          <a:p>
            <a:pPr marL="0" indent="0" algn="l">
              <a:lnSpc>
                <a:spcPct val="180000"/>
              </a:lnSpc>
              <a:buNone/>
            </a:pPr>
            <a:r>
              <a:rPr lang="en-US" sz="1100" dirty="0">
                <a:solidFill>
                  <a:srgbClr val="C8C8E0"/>
                </a:solidFill>
                <a:latin typeface="Segoe UI Light" pitchFamily="34" charset="0"/>
                <a:ea typeface="Segoe UI Light" pitchFamily="34" charset="-122"/>
                <a:cs typeface="Segoe UI Light" pitchFamily="34" charset="-120"/>
              </a:rPr>
              <a:t>•  MQTT/HTTPS device connectivity</a:t>
            </a:r>
            <a:endParaRPr lang="en-US" sz="1100" dirty="0"/>
          </a:p>
          <a:p>
            <a:pPr marL="0" indent="0" algn="l">
              <a:lnSpc>
                <a:spcPct val="180000"/>
              </a:lnSpc>
              <a:buNone/>
            </a:pPr>
            <a:r>
              <a:rPr lang="en-US" sz="1100" dirty="0">
                <a:solidFill>
                  <a:srgbClr val="C8C8E0"/>
                </a:solidFill>
                <a:latin typeface="Segoe UI Light" pitchFamily="34" charset="0"/>
                <a:ea typeface="Segoe UI Light" pitchFamily="34" charset="-122"/>
                <a:cs typeface="Segoe UI Light" pitchFamily="34" charset="-120"/>
              </a:rPr>
              <a:t>•  Rules Engine SQL filtering</a:t>
            </a:r>
            <a:endParaRPr lang="en-US" sz="1100" dirty="0"/>
          </a:p>
          <a:p>
            <a:pPr marL="0" indent="0" algn="l">
              <a:lnSpc>
                <a:spcPct val="180000"/>
              </a:lnSpc>
              <a:buNone/>
            </a:pPr>
            <a:r>
              <a:rPr lang="en-US" sz="1100" dirty="0">
                <a:solidFill>
                  <a:srgbClr val="C8C8E0"/>
                </a:solidFill>
                <a:latin typeface="Segoe UI Light" pitchFamily="34" charset="0"/>
                <a:ea typeface="Segoe UI Light" pitchFamily="34" charset="-122"/>
                <a:cs typeface="Segoe UI Light" pitchFamily="34" charset="-120"/>
              </a:rPr>
              <a:t>•  Dead-letter queue for failures</a:t>
            </a:r>
            <a:endParaRPr lang="en-US" sz="1100" dirty="0"/>
          </a:p>
        </p:txBody>
      </p:sp>
      <p:sp>
        <p:nvSpPr>
          <p:cNvPr id="11" name="Shape 9"/>
          <p:cNvSpPr/>
          <p:nvPr/>
        </p:nvSpPr>
        <p:spPr>
          <a:xfrm>
            <a:off x="4389120" y="1554480"/>
            <a:ext cx="3383280" cy="3657600"/>
          </a:xfrm>
          <a:prstGeom prst="roundRect">
            <a:avLst>
              <a:gd name="adj" fmla="val 1622"/>
            </a:avLst>
          </a:prstGeom>
          <a:solidFill>
            <a:srgbClr val="0D1147"/>
          </a:solidFill>
          <a:ln w="15240">
            <a:solidFill>
              <a:srgbClr val="7B5EA7"/>
            </a:solidFill>
            <a:prstDash val="solid"/>
          </a:ln>
        </p:spPr>
        <p:txBody>
          <a:bodyPr/>
          <a:lstStyle/>
          <a:p>
            <a:endParaRPr lang="en-US"/>
          </a:p>
        </p:txBody>
      </p:sp>
      <p:sp>
        <p:nvSpPr>
          <p:cNvPr id="12" name="Shape 10"/>
          <p:cNvSpPr/>
          <p:nvPr/>
        </p:nvSpPr>
        <p:spPr>
          <a:xfrm>
            <a:off x="4389120" y="1554480"/>
            <a:ext cx="3383280" cy="54864"/>
          </a:xfrm>
          <a:prstGeom prst="rect">
            <a:avLst/>
          </a:prstGeom>
          <a:solidFill>
            <a:srgbClr val="7B5EA7"/>
          </a:solidFill>
          <a:ln/>
        </p:spPr>
        <p:txBody>
          <a:bodyPr/>
          <a:lstStyle/>
          <a:p>
            <a:endParaRPr lang="en-US"/>
          </a:p>
        </p:txBody>
      </p:sp>
      <p:sp>
        <p:nvSpPr>
          <p:cNvPr id="13" name="Shape 11"/>
          <p:cNvSpPr/>
          <p:nvPr/>
        </p:nvSpPr>
        <p:spPr>
          <a:xfrm>
            <a:off x="5715000" y="1920240"/>
            <a:ext cx="731520" cy="731520"/>
          </a:xfrm>
          <a:prstGeom prst="ellipse">
            <a:avLst/>
          </a:prstGeom>
          <a:solidFill>
            <a:srgbClr val="7B5EA7"/>
          </a:solidFill>
          <a:ln/>
        </p:spPr>
        <p:txBody>
          <a:bodyPr/>
          <a:lstStyle/>
          <a:p>
            <a:endParaRPr lang="en-US"/>
          </a:p>
        </p:txBody>
      </p:sp>
      <p:sp>
        <p:nvSpPr>
          <p:cNvPr id="14" name="Text 12"/>
          <p:cNvSpPr/>
          <p:nvPr/>
        </p:nvSpPr>
        <p:spPr>
          <a:xfrm>
            <a:off x="4663440" y="2834640"/>
            <a:ext cx="2834640" cy="4572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Kinesis Data Streams</a:t>
            </a:r>
            <a:endParaRPr lang="en-US" sz="1500" dirty="0"/>
          </a:p>
        </p:txBody>
      </p:sp>
      <p:sp>
        <p:nvSpPr>
          <p:cNvPr id="15" name="Text 13"/>
          <p:cNvSpPr/>
          <p:nvPr/>
        </p:nvSpPr>
        <p:spPr>
          <a:xfrm>
            <a:off x="4754880" y="3383280"/>
            <a:ext cx="2743200" cy="1645920"/>
          </a:xfrm>
          <a:prstGeom prst="rect">
            <a:avLst/>
          </a:prstGeom>
          <a:noFill/>
          <a:ln/>
        </p:spPr>
        <p:txBody>
          <a:bodyPr wrap="square" rtlCol="0" anchor="ctr"/>
          <a:lstStyle/>
          <a:p>
            <a:pPr marL="0" indent="0" algn="l">
              <a:lnSpc>
                <a:spcPct val="180000"/>
              </a:lnSpc>
              <a:buNone/>
            </a:pPr>
            <a:r>
              <a:rPr lang="en-US" sz="1100" dirty="0">
                <a:solidFill>
                  <a:srgbClr val="C8C8E0"/>
                </a:solidFill>
                <a:latin typeface="Segoe UI Light" pitchFamily="34" charset="0"/>
                <a:ea typeface="Segoe UI Light" pitchFamily="34" charset="-122"/>
                <a:cs typeface="Segoe UI Light" pitchFamily="34" charset="-120"/>
              </a:rPr>
              <a:t>•  100K+ concurrent msg/sec</a:t>
            </a:r>
            <a:endParaRPr lang="en-US" sz="1100" dirty="0"/>
          </a:p>
          <a:p>
            <a:pPr marL="0" indent="0" algn="l">
              <a:lnSpc>
                <a:spcPct val="180000"/>
              </a:lnSpc>
              <a:buNone/>
            </a:pPr>
            <a:r>
              <a:rPr lang="en-US" sz="1100" dirty="0">
                <a:solidFill>
                  <a:srgbClr val="C8C8E0"/>
                </a:solidFill>
                <a:latin typeface="Segoe UI Light" pitchFamily="34" charset="0"/>
                <a:ea typeface="Segoe UI Light" pitchFamily="34" charset="-122"/>
                <a:cs typeface="Segoe UI Light" pitchFamily="34" charset="-120"/>
              </a:rPr>
              <a:t>•  Scalable shard-based buffering</a:t>
            </a:r>
            <a:endParaRPr lang="en-US" sz="1100" dirty="0"/>
          </a:p>
          <a:p>
            <a:pPr marL="0" indent="0" algn="l">
              <a:lnSpc>
                <a:spcPct val="180000"/>
              </a:lnSpc>
              <a:buNone/>
            </a:pPr>
            <a:r>
              <a:rPr lang="en-US" sz="1100" dirty="0">
                <a:solidFill>
                  <a:srgbClr val="C8C8E0"/>
                </a:solidFill>
                <a:latin typeface="Segoe UI Light" pitchFamily="34" charset="0"/>
                <a:ea typeface="Segoe UI Light" pitchFamily="34" charset="-122"/>
                <a:cs typeface="Segoe UI Light" pitchFamily="34" charset="-120"/>
              </a:rPr>
              <a:t>•  Enhanced fan-out support</a:t>
            </a:r>
            <a:endParaRPr lang="en-US" sz="1100" dirty="0"/>
          </a:p>
        </p:txBody>
      </p:sp>
      <p:sp>
        <p:nvSpPr>
          <p:cNvPr id="16" name="Shape 14"/>
          <p:cNvSpPr/>
          <p:nvPr/>
        </p:nvSpPr>
        <p:spPr>
          <a:xfrm>
            <a:off x="8046720" y="1554480"/>
            <a:ext cx="3383280" cy="3657600"/>
          </a:xfrm>
          <a:prstGeom prst="roundRect">
            <a:avLst>
              <a:gd name="adj" fmla="val 1622"/>
            </a:avLst>
          </a:prstGeom>
          <a:solidFill>
            <a:srgbClr val="0D1147"/>
          </a:solidFill>
          <a:ln w="15240">
            <a:solidFill>
              <a:srgbClr val="7B5EA7"/>
            </a:solidFill>
            <a:prstDash val="solid"/>
          </a:ln>
        </p:spPr>
        <p:txBody>
          <a:bodyPr/>
          <a:lstStyle/>
          <a:p>
            <a:endParaRPr lang="en-US"/>
          </a:p>
        </p:txBody>
      </p:sp>
      <p:sp>
        <p:nvSpPr>
          <p:cNvPr id="17" name="Shape 15"/>
          <p:cNvSpPr/>
          <p:nvPr/>
        </p:nvSpPr>
        <p:spPr>
          <a:xfrm>
            <a:off x="8046720" y="1554480"/>
            <a:ext cx="3383280" cy="54864"/>
          </a:xfrm>
          <a:prstGeom prst="rect">
            <a:avLst/>
          </a:prstGeom>
          <a:solidFill>
            <a:srgbClr val="7B5EA7"/>
          </a:solidFill>
          <a:ln/>
        </p:spPr>
        <p:txBody>
          <a:bodyPr/>
          <a:lstStyle/>
          <a:p>
            <a:endParaRPr lang="en-US"/>
          </a:p>
        </p:txBody>
      </p:sp>
      <p:sp>
        <p:nvSpPr>
          <p:cNvPr id="18" name="Shape 16"/>
          <p:cNvSpPr/>
          <p:nvPr/>
        </p:nvSpPr>
        <p:spPr>
          <a:xfrm>
            <a:off x="9372600" y="1920240"/>
            <a:ext cx="731520" cy="731520"/>
          </a:xfrm>
          <a:prstGeom prst="ellipse">
            <a:avLst/>
          </a:prstGeom>
          <a:solidFill>
            <a:srgbClr val="7B5EA7"/>
          </a:solidFill>
          <a:ln/>
        </p:spPr>
        <p:txBody>
          <a:bodyPr/>
          <a:lstStyle/>
          <a:p>
            <a:endParaRPr lang="en-US"/>
          </a:p>
        </p:txBody>
      </p:sp>
      <p:sp>
        <p:nvSpPr>
          <p:cNvPr id="19" name="Text 17"/>
          <p:cNvSpPr/>
          <p:nvPr/>
        </p:nvSpPr>
        <p:spPr>
          <a:xfrm>
            <a:off x="8321040" y="2834640"/>
            <a:ext cx="2834640" cy="4572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Data Firehose</a:t>
            </a:r>
            <a:endParaRPr lang="en-US" sz="1500" dirty="0"/>
          </a:p>
        </p:txBody>
      </p:sp>
      <p:sp>
        <p:nvSpPr>
          <p:cNvPr id="20" name="Text 18"/>
          <p:cNvSpPr/>
          <p:nvPr/>
        </p:nvSpPr>
        <p:spPr>
          <a:xfrm>
            <a:off x="8412480" y="3383280"/>
            <a:ext cx="2743200" cy="1645920"/>
          </a:xfrm>
          <a:prstGeom prst="rect">
            <a:avLst/>
          </a:prstGeom>
          <a:noFill/>
          <a:ln/>
        </p:spPr>
        <p:txBody>
          <a:bodyPr wrap="square" rtlCol="0" anchor="ctr"/>
          <a:lstStyle/>
          <a:p>
            <a:pPr marL="0" indent="0" algn="l">
              <a:lnSpc>
                <a:spcPct val="180000"/>
              </a:lnSpc>
              <a:buNone/>
            </a:pPr>
            <a:r>
              <a:rPr lang="en-US" sz="1100" dirty="0">
                <a:solidFill>
                  <a:srgbClr val="C8C8E0"/>
                </a:solidFill>
                <a:latin typeface="Segoe UI Light" pitchFamily="34" charset="0"/>
                <a:ea typeface="Segoe UI Light" pitchFamily="34" charset="-122"/>
                <a:cs typeface="Segoe UI Light" pitchFamily="34" charset="-120"/>
              </a:rPr>
              <a:t>•  Zero-code JSON → Iceberg</a:t>
            </a:r>
            <a:endParaRPr lang="en-US" sz="1100" dirty="0"/>
          </a:p>
          <a:p>
            <a:pPr marL="0" indent="0" algn="l">
              <a:lnSpc>
                <a:spcPct val="180000"/>
              </a:lnSpc>
              <a:buNone/>
            </a:pPr>
            <a:r>
              <a:rPr lang="en-US" sz="1100" dirty="0">
                <a:solidFill>
                  <a:srgbClr val="C8C8E0"/>
                </a:solidFill>
                <a:latin typeface="Segoe UI Light" pitchFamily="34" charset="0"/>
                <a:ea typeface="Segoe UI Light" pitchFamily="34" charset="-122"/>
                <a:cs typeface="Segoe UI Light" pitchFamily="34" charset="-120"/>
              </a:rPr>
              <a:t>•  Auto-batching (60–900s buffer)</a:t>
            </a:r>
            <a:endParaRPr lang="en-US" sz="1100" dirty="0"/>
          </a:p>
          <a:p>
            <a:pPr marL="0" indent="0" algn="l">
              <a:lnSpc>
                <a:spcPct val="180000"/>
              </a:lnSpc>
              <a:buNone/>
            </a:pPr>
            <a:r>
              <a:rPr lang="en-US" sz="1100" dirty="0">
                <a:solidFill>
                  <a:srgbClr val="C8C8E0"/>
                </a:solidFill>
                <a:latin typeface="Segoe UI Light" pitchFamily="34" charset="0"/>
                <a:ea typeface="Segoe UI Light" pitchFamily="34" charset="-122"/>
                <a:cs typeface="Segoe UI Light" pitchFamily="34" charset="-120"/>
              </a:rPr>
              <a:t>•  Direct delivery to S3 Tables</a:t>
            </a:r>
            <a:endParaRPr lang="en-US" sz="1100" dirty="0"/>
          </a:p>
        </p:txBody>
      </p:sp>
      <p:sp>
        <p:nvSpPr>
          <p:cNvPr id="21" name="Shape 19"/>
          <p:cNvSpPr/>
          <p:nvPr/>
        </p:nvSpPr>
        <p:spPr>
          <a:xfrm>
            <a:off x="4114800" y="3200400"/>
            <a:ext cx="274320" cy="27432"/>
          </a:xfrm>
          <a:prstGeom prst="rect">
            <a:avLst/>
          </a:prstGeom>
          <a:solidFill>
            <a:srgbClr val="FFFFFF"/>
          </a:solidFill>
          <a:ln/>
        </p:spPr>
        <p:txBody>
          <a:bodyPr/>
          <a:lstStyle/>
          <a:p>
            <a:endParaRPr lang="en-US"/>
          </a:p>
        </p:txBody>
      </p:sp>
      <p:sp>
        <p:nvSpPr>
          <p:cNvPr id="22" name="Shape 20"/>
          <p:cNvSpPr/>
          <p:nvPr/>
        </p:nvSpPr>
        <p:spPr>
          <a:xfrm>
            <a:off x="7772400" y="3200400"/>
            <a:ext cx="274320" cy="27432"/>
          </a:xfrm>
          <a:prstGeom prst="rect">
            <a:avLst/>
          </a:prstGeom>
          <a:solidFill>
            <a:srgbClr val="FFFFFF"/>
          </a:solidFill>
          <a:ln/>
        </p:spPr>
        <p:txBody>
          <a:bodyPr/>
          <a:lstStyle/>
          <a:p>
            <a:endParaRPr lang="en-US"/>
          </a:p>
        </p:txBody>
      </p:sp>
      <p:sp>
        <p:nvSpPr>
          <p:cNvPr id="23" name="Shape 21"/>
          <p:cNvSpPr/>
          <p:nvPr/>
        </p:nvSpPr>
        <p:spPr>
          <a:xfrm>
            <a:off x="731520" y="5669280"/>
            <a:ext cx="10698480" cy="548640"/>
          </a:xfrm>
          <a:prstGeom prst="roundRect">
            <a:avLst>
              <a:gd name="adj" fmla="val 5000"/>
            </a:avLst>
          </a:prstGeom>
          <a:solidFill>
            <a:srgbClr val="0D1147"/>
          </a:solidFill>
          <a:ln w="6350">
            <a:solidFill>
              <a:srgbClr val="7AB648"/>
            </a:solidFill>
            <a:prstDash val="solid"/>
          </a:ln>
        </p:spPr>
        <p:txBody>
          <a:bodyPr/>
          <a:lstStyle/>
          <a:p>
            <a:endParaRPr lang="en-US"/>
          </a:p>
        </p:txBody>
      </p:sp>
      <p:sp>
        <p:nvSpPr>
          <p:cNvPr id="24" name="Text 22"/>
          <p:cNvSpPr/>
          <p:nvPr/>
        </p:nvSpPr>
        <p:spPr>
          <a:xfrm>
            <a:off x="914400" y="5715000"/>
            <a:ext cx="10332720" cy="457200"/>
          </a:xfrm>
          <a:prstGeom prst="rect">
            <a:avLst/>
          </a:prstGeom>
          <a:noFill/>
          <a:ln/>
        </p:spPr>
        <p:txBody>
          <a:bodyPr wrap="square" rtlCol="0" anchor="ctr"/>
          <a:lstStyle/>
          <a:p>
            <a:pPr marL="0" indent="0" algn="ctr">
              <a:buNone/>
            </a:pPr>
            <a:r>
              <a:rPr lang="en-US" sz="1200" dirty="0">
                <a:solidFill>
                  <a:srgbClr val="7AB648"/>
                </a:solidFill>
                <a:latin typeface="Segoe UI" pitchFamily="34" charset="0"/>
                <a:ea typeface="Segoe UI" pitchFamily="34" charset="-122"/>
                <a:cs typeface="Segoe UI" pitchFamily="34" charset="-120"/>
              </a:rPr>
              <a:t>✅ Fully serverless &amp; auto-scaling — No infrastructure to provision or manage</a:t>
            </a:r>
            <a:endParaRPr lang="en-US" sz="1200" dirty="0"/>
          </a:p>
        </p:txBody>
      </p:sp>
      <p:sp>
        <p:nvSpPr>
          <p:cNvPr id="25" name="Text 23"/>
          <p:cNvSpPr/>
          <p:nvPr/>
        </p:nvSpPr>
        <p:spPr>
          <a:xfrm>
            <a:off x="10972800" y="6400800"/>
            <a:ext cx="914400" cy="274320"/>
          </a:xfrm>
          <a:prstGeom prst="rect">
            <a:avLst/>
          </a:prstGeom>
          <a:noFill/>
          <a:ln/>
        </p:spPr>
        <p:txBody>
          <a:bodyPr wrap="square" rtlCol="0" anchor="ctr"/>
          <a:lstStyle/>
          <a:p>
            <a:pPr marL="0" indent="0" algn="r">
              <a:buNone/>
            </a:pPr>
            <a:r>
              <a:rPr lang="en-US" sz="900" dirty="0">
                <a:solidFill>
                  <a:srgbClr val="666699"/>
                </a:solidFill>
                <a:latin typeface="Segoe UI" pitchFamily="34" charset="0"/>
                <a:ea typeface="Segoe UI" pitchFamily="34" charset="-122"/>
                <a:cs typeface="Segoe U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B2D"/>
        </a:solidFill>
        <a:effectLst/>
      </p:bgPr>
    </p:bg>
    <p:spTree>
      <p:nvGrpSpPr>
        <p:cNvPr id="1" name=""/>
        <p:cNvGrpSpPr/>
        <p:nvPr/>
      </p:nvGrpSpPr>
      <p:grpSpPr>
        <a:xfrm>
          <a:off x="0" y="0"/>
          <a:ext cx="0" cy="0"/>
          <a:chOff x="0" y="0"/>
          <a:chExt cx="0" cy="0"/>
        </a:xfrm>
      </p:grpSpPr>
      <p:sp>
        <p:nvSpPr>
          <p:cNvPr id="2" name="Shape 0"/>
          <p:cNvSpPr/>
          <p:nvPr/>
        </p:nvSpPr>
        <p:spPr>
          <a:xfrm>
            <a:off x="7772400" y="-1828800"/>
            <a:ext cx="6400800" cy="6400800"/>
          </a:xfrm>
          <a:prstGeom prst="ellipse">
            <a:avLst/>
          </a:prstGeom>
          <a:solidFill>
            <a:srgbClr val="6B0AC9"/>
          </a:solidFill>
          <a:ln/>
        </p:spPr>
        <p:txBody>
          <a:bodyPr/>
          <a:lstStyle/>
          <a:p>
            <a:endParaRPr lang="en-US"/>
          </a:p>
        </p:txBody>
      </p:sp>
      <p:sp>
        <p:nvSpPr>
          <p:cNvPr id="3" name="Shape 1"/>
          <p:cNvSpPr/>
          <p:nvPr/>
        </p:nvSpPr>
        <p:spPr>
          <a:xfrm>
            <a:off x="8686800" y="-1371600"/>
            <a:ext cx="4572000" cy="4572000"/>
          </a:xfrm>
          <a:prstGeom prst="ellipse">
            <a:avLst/>
          </a:prstGeom>
          <a:solidFill>
            <a:srgbClr val="4A07A0"/>
          </a:solidFill>
          <a:ln/>
        </p:spPr>
        <p:txBody>
          <a:bodyPr/>
          <a:lstStyle/>
          <a:p>
            <a:endParaRPr lang="en-US"/>
          </a:p>
        </p:txBody>
      </p:sp>
      <p:sp>
        <p:nvSpPr>
          <p:cNvPr id="4" name="Text 2"/>
          <p:cNvSpPr/>
          <p:nvPr/>
        </p:nvSpPr>
        <p:spPr>
          <a:xfrm>
            <a:off x="731520" y="365760"/>
            <a:ext cx="7315200" cy="548640"/>
          </a:xfrm>
          <a:prstGeom prst="rect">
            <a:avLst/>
          </a:prstGeom>
          <a:noFill/>
          <a:ln/>
        </p:spPr>
        <p:txBody>
          <a:bodyPr wrap="square" rtlCol="0" anchor="ctr"/>
          <a:lstStyle/>
          <a:p>
            <a:pPr marL="0" indent="0" algn="l">
              <a:buNone/>
            </a:pPr>
            <a:r>
              <a:rPr lang="en-US" sz="3200" kern="0" spc="200" dirty="0">
                <a:solidFill>
                  <a:srgbClr val="FFFFFF"/>
                </a:solidFill>
                <a:latin typeface="Segoe UI" pitchFamily="34" charset="0"/>
                <a:ea typeface="Segoe UI" pitchFamily="34" charset="-122"/>
                <a:cs typeface="Segoe UI" pitchFamily="34" charset="-120"/>
              </a:rPr>
              <a:t>STORAGE LAYER</a:t>
            </a:r>
            <a:endParaRPr lang="en-US" sz="3200" dirty="0"/>
          </a:p>
        </p:txBody>
      </p:sp>
      <p:sp>
        <p:nvSpPr>
          <p:cNvPr id="5" name="Text 3"/>
          <p:cNvSpPr/>
          <p:nvPr/>
        </p:nvSpPr>
        <p:spPr>
          <a:xfrm>
            <a:off x="731520" y="914400"/>
            <a:ext cx="7315200" cy="320040"/>
          </a:xfrm>
          <a:prstGeom prst="rect">
            <a:avLst/>
          </a:prstGeom>
          <a:noFill/>
          <a:ln/>
        </p:spPr>
        <p:txBody>
          <a:bodyPr wrap="square" rtlCol="0" anchor="ctr"/>
          <a:lstStyle/>
          <a:p>
            <a:pPr marL="0" indent="0" algn="l">
              <a:buNone/>
            </a:pPr>
            <a:r>
              <a:rPr lang="en-US" sz="1400" dirty="0">
                <a:solidFill>
                  <a:srgbClr val="B8B8D0"/>
                </a:solidFill>
                <a:latin typeface="Segoe UI Light" pitchFamily="34" charset="0"/>
                <a:ea typeface="Segoe UI Light" pitchFamily="34" charset="-122"/>
                <a:cs typeface="Segoe UI Light" pitchFamily="34" charset="-120"/>
              </a:rPr>
              <a:t>Amazon S3 Tables with Apache Iceberg</a:t>
            </a:r>
            <a:endParaRPr lang="en-US" sz="1400" dirty="0"/>
          </a:p>
        </p:txBody>
      </p:sp>
      <p:sp>
        <p:nvSpPr>
          <p:cNvPr id="6" name="Shape 4"/>
          <p:cNvSpPr/>
          <p:nvPr/>
        </p:nvSpPr>
        <p:spPr>
          <a:xfrm>
            <a:off x="731520" y="1554480"/>
            <a:ext cx="5029200" cy="2286000"/>
          </a:xfrm>
          <a:prstGeom prst="roundRect">
            <a:avLst>
              <a:gd name="adj" fmla="val 3200"/>
            </a:avLst>
          </a:prstGeom>
          <a:solidFill>
            <a:srgbClr val="0D1147"/>
          </a:solidFill>
          <a:ln w="19050">
            <a:solidFill>
              <a:srgbClr val="7AB648"/>
            </a:solidFill>
            <a:prstDash val="solid"/>
          </a:ln>
        </p:spPr>
        <p:txBody>
          <a:bodyPr/>
          <a:lstStyle/>
          <a:p>
            <a:endParaRPr lang="en-US"/>
          </a:p>
        </p:txBody>
      </p:sp>
      <p:sp>
        <p:nvSpPr>
          <p:cNvPr id="7" name="Text 5"/>
          <p:cNvSpPr/>
          <p:nvPr/>
        </p:nvSpPr>
        <p:spPr>
          <a:xfrm>
            <a:off x="914400" y="1737360"/>
            <a:ext cx="2286000" cy="914400"/>
          </a:xfrm>
          <a:prstGeom prst="rect">
            <a:avLst/>
          </a:prstGeom>
          <a:noFill/>
          <a:ln/>
        </p:spPr>
        <p:txBody>
          <a:bodyPr wrap="square" rtlCol="0" anchor="ctr"/>
          <a:lstStyle/>
          <a:p>
            <a:pPr marL="0" indent="0" algn="ctr">
              <a:buNone/>
            </a:pPr>
            <a:r>
              <a:rPr lang="en-US" sz="6400" b="1" dirty="0">
                <a:solidFill>
                  <a:srgbClr val="7AB648"/>
                </a:solidFill>
                <a:latin typeface="Segoe UI" pitchFamily="34" charset="0"/>
                <a:ea typeface="Segoe UI" pitchFamily="34" charset="-122"/>
                <a:cs typeface="Segoe UI" pitchFamily="34" charset="-120"/>
              </a:rPr>
              <a:t>10x</a:t>
            </a:r>
            <a:endParaRPr lang="en-US" sz="6400" dirty="0"/>
          </a:p>
        </p:txBody>
      </p:sp>
      <p:sp>
        <p:nvSpPr>
          <p:cNvPr id="8" name="Text 6"/>
          <p:cNvSpPr/>
          <p:nvPr/>
        </p:nvSpPr>
        <p:spPr>
          <a:xfrm>
            <a:off x="2926080" y="1920240"/>
            <a:ext cx="2560320" cy="731520"/>
          </a:xfrm>
          <a:prstGeom prst="rect">
            <a:avLst/>
          </a:prstGeom>
          <a:noFill/>
          <a:ln/>
        </p:spPr>
        <p:txBody>
          <a:bodyPr wrap="square" rtlCol="0" anchor="ctr"/>
          <a:lstStyle/>
          <a:p>
            <a:pPr marL="0" indent="0" algn="l">
              <a:buNone/>
            </a:pPr>
            <a:r>
              <a:rPr lang="en-US" sz="1200" dirty="0">
                <a:solidFill>
                  <a:srgbClr val="C8C8E0"/>
                </a:solidFill>
                <a:latin typeface="Segoe UI Light" pitchFamily="34" charset="0"/>
                <a:ea typeface="Segoe UI Light" pitchFamily="34" charset="-122"/>
                <a:cs typeface="Segoe UI Light" pitchFamily="34" charset="-120"/>
              </a:rPr>
              <a:t>more transactions per second</a:t>
            </a:r>
            <a:endParaRPr lang="en-US" sz="1200" dirty="0"/>
          </a:p>
          <a:p>
            <a:pPr marL="0" indent="0" algn="l">
              <a:buNone/>
            </a:pPr>
            <a:r>
              <a:rPr lang="en-US" sz="1200" dirty="0">
                <a:solidFill>
                  <a:srgbClr val="C8C8E0"/>
                </a:solidFill>
                <a:latin typeface="Segoe UI Light" pitchFamily="34" charset="0"/>
                <a:ea typeface="Segoe UI Light" pitchFamily="34" charset="-122"/>
                <a:cs typeface="Segoe UI Light" pitchFamily="34" charset="-120"/>
              </a:rPr>
              <a:t>vs. unmanaged Iceberg tables</a:t>
            </a:r>
            <a:endParaRPr lang="en-US" sz="1200" dirty="0"/>
          </a:p>
        </p:txBody>
      </p:sp>
      <p:sp>
        <p:nvSpPr>
          <p:cNvPr id="9" name="Text 7"/>
          <p:cNvSpPr/>
          <p:nvPr/>
        </p:nvSpPr>
        <p:spPr>
          <a:xfrm>
            <a:off x="1097280" y="2926080"/>
            <a:ext cx="1828800" cy="457200"/>
          </a:xfrm>
          <a:prstGeom prst="rect">
            <a:avLst/>
          </a:prstGeom>
          <a:noFill/>
          <a:ln/>
        </p:spPr>
        <p:txBody>
          <a:bodyPr wrap="square" rtlCol="0" anchor="ctr"/>
          <a:lstStyle/>
          <a:p>
            <a:pPr marL="0" indent="0" algn="ctr">
              <a:buNone/>
            </a:pPr>
            <a:r>
              <a:rPr lang="en-US" sz="2800" b="1" dirty="0">
                <a:solidFill>
                  <a:srgbClr val="7AB648"/>
                </a:solidFill>
                <a:latin typeface="Segoe UI" pitchFamily="34" charset="0"/>
                <a:ea typeface="Segoe UI" pitchFamily="34" charset="-122"/>
                <a:cs typeface="Segoe UI" pitchFamily="34" charset="-120"/>
              </a:rPr>
              <a:t>55,000</a:t>
            </a:r>
            <a:endParaRPr lang="en-US" sz="2800" dirty="0"/>
          </a:p>
        </p:txBody>
      </p:sp>
      <p:sp>
        <p:nvSpPr>
          <p:cNvPr id="10" name="Text 8"/>
          <p:cNvSpPr/>
          <p:nvPr/>
        </p:nvSpPr>
        <p:spPr>
          <a:xfrm>
            <a:off x="1097280" y="3337560"/>
            <a:ext cx="1828800" cy="274320"/>
          </a:xfrm>
          <a:prstGeom prst="rect">
            <a:avLst/>
          </a:prstGeom>
          <a:noFill/>
          <a:ln/>
        </p:spPr>
        <p:txBody>
          <a:bodyPr wrap="square" rtlCol="0" anchor="ctr"/>
          <a:lstStyle/>
          <a:p>
            <a:pPr marL="0" indent="0" algn="ctr">
              <a:buNone/>
            </a:pPr>
            <a:r>
              <a:rPr lang="en-US" sz="1000" dirty="0">
                <a:solidFill>
                  <a:srgbClr val="A0A0C0"/>
                </a:solidFill>
                <a:latin typeface="Segoe UI Light" pitchFamily="34" charset="0"/>
                <a:ea typeface="Segoe UI Light" pitchFamily="34" charset="-122"/>
                <a:cs typeface="Segoe UI Light" pitchFamily="34" charset="-120"/>
              </a:rPr>
              <a:t>reads/sec</a:t>
            </a:r>
            <a:endParaRPr lang="en-US" sz="1000" dirty="0"/>
          </a:p>
        </p:txBody>
      </p:sp>
      <p:sp>
        <p:nvSpPr>
          <p:cNvPr id="11" name="Text 9"/>
          <p:cNvSpPr/>
          <p:nvPr/>
        </p:nvSpPr>
        <p:spPr>
          <a:xfrm>
            <a:off x="3200400" y="2926080"/>
            <a:ext cx="1828800" cy="457200"/>
          </a:xfrm>
          <a:prstGeom prst="rect">
            <a:avLst/>
          </a:prstGeom>
          <a:noFill/>
          <a:ln/>
        </p:spPr>
        <p:txBody>
          <a:bodyPr wrap="square" rtlCol="0" anchor="ctr"/>
          <a:lstStyle/>
          <a:p>
            <a:pPr marL="0" indent="0" algn="ctr">
              <a:buNone/>
            </a:pPr>
            <a:r>
              <a:rPr lang="en-US" sz="2800" b="1" dirty="0">
                <a:solidFill>
                  <a:srgbClr val="7AB648"/>
                </a:solidFill>
                <a:latin typeface="Segoe UI" pitchFamily="34" charset="0"/>
                <a:ea typeface="Segoe UI" pitchFamily="34" charset="-122"/>
                <a:cs typeface="Segoe UI" pitchFamily="34" charset="-120"/>
              </a:rPr>
              <a:t>35,000</a:t>
            </a:r>
            <a:endParaRPr lang="en-US" sz="2800" dirty="0"/>
          </a:p>
        </p:txBody>
      </p:sp>
      <p:sp>
        <p:nvSpPr>
          <p:cNvPr id="12" name="Text 10"/>
          <p:cNvSpPr/>
          <p:nvPr/>
        </p:nvSpPr>
        <p:spPr>
          <a:xfrm>
            <a:off x="3200400" y="3337560"/>
            <a:ext cx="1828800" cy="274320"/>
          </a:xfrm>
          <a:prstGeom prst="rect">
            <a:avLst/>
          </a:prstGeom>
          <a:noFill/>
          <a:ln/>
        </p:spPr>
        <p:txBody>
          <a:bodyPr wrap="square" rtlCol="0" anchor="ctr"/>
          <a:lstStyle/>
          <a:p>
            <a:pPr marL="0" indent="0" algn="ctr">
              <a:buNone/>
            </a:pPr>
            <a:r>
              <a:rPr lang="en-US" sz="1000" dirty="0">
                <a:solidFill>
                  <a:srgbClr val="A0A0C0"/>
                </a:solidFill>
                <a:latin typeface="Segoe UI Light" pitchFamily="34" charset="0"/>
                <a:ea typeface="Segoe UI Light" pitchFamily="34" charset="-122"/>
                <a:cs typeface="Segoe UI Light" pitchFamily="34" charset="-120"/>
              </a:rPr>
              <a:t>writes/sec</a:t>
            </a:r>
            <a:endParaRPr lang="en-US" sz="1000" dirty="0"/>
          </a:p>
        </p:txBody>
      </p:sp>
      <p:sp>
        <p:nvSpPr>
          <p:cNvPr id="13" name="Shape 11"/>
          <p:cNvSpPr/>
          <p:nvPr/>
        </p:nvSpPr>
        <p:spPr>
          <a:xfrm>
            <a:off x="6400800" y="1755648"/>
            <a:ext cx="182880" cy="182880"/>
          </a:xfrm>
          <a:prstGeom prst="ellipse">
            <a:avLst/>
          </a:prstGeom>
          <a:solidFill>
            <a:srgbClr val="7AB648"/>
          </a:solidFill>
          <a:ln/>
        </p:spPr>
        <p:txBody>
          <a:bodyPr/>
          <a:lstStyle/>
          <a:p>
            <a:endParaRPr lang="en-US"/>
          </a:p>
        </p:txBody>
      </p:sp>
      <p:sp>
        <p:nvSpPr>
          <p:cNvPr id="14" name="Text 12"/>
          <p:cNvSpPr/>
          <p:nvPr/>
        </p:nvSpPr>
        <p:spPr>
          <a:xfrm>
            <a:off x="6766560" y="1645920"/>
            <a:ext cx="4572000" cy="411480"/>
          </a:xfrm>
          <a:prstGeom prst="rect">
            <a:avLst/>
          </a:prstGeom>
          <a:noFill/>
          <a:ln/>
        </p:spPr>
        <p:txBody>
          <a:bodyPr wrap="square"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ACID transactions for concurrent writes</a:t>
            </a:r>
            <a:endParaRPr lang="en-US" sz="1300" dirty="0"/>
          </a:p>
        </p:txBody>
      </p:sp>
      <p:sp>
        <p:nvSpPr>
          <p:cNvPr id="15" name="Shape 13"/>
          <p:cNvSpPr/>
          <p:nvPr/>
        </p:nvSpPr>
        <p:spPr>
          <a:xfrm>
            <a:off x="6400800" y="2441448"/>
            <a:ext cx="182880" cy="182880"/>
          </a:xfrm>
          <a:prstGeom prst="ellipse">
            <a:avLst/>
          </a:prstGeom>
          <a:solidFill>
            <a:srgbClr val="7AB648"/>
          </a:solidFill>
          <a:ln/>
        </p:spPr>
        <p:txBody>
          <a:bodyPr/>
          <a:lstStyle/>
          <a:p>
            <a:endParaRPr lang="en-US"/>
          </a:p>
        </p:txBody>
      </p:sp>
      <p:sp>
        <p:nvSpPr>
          <p:cNvPr id="16" name="Text 14"/>
          <p:cNvSpPr/>
          <p:nvPr/>
        </p:nvSpPr>
        <p:spPr>
          <a:xfrm>
            <a:off x="6766560" y="2331720"/>
            <a:ext cx="4572000" cy="411480"/>
          </a:xfrm>
          <a:prstGeom prst="rect">
            <a:avLst/>
          </a:prstGeom>
          <a:noFill/>
          <a:ln/>
        </p:spPr>
        <p:txBody>
          <a:bodyPr wrap="square"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Automatic compaction &amp; optimization</a:t>
            </a:r>
            <a:endParaRPr lang="en-US" sz="1300" dirty="0"/>
          </a:p>
        </p:txBody>
      </p:sp>
      <p:sp>
        <p:nvSpPr>
          <p:cNvPr id="17" name="Shape 15"/>
          <p:cNvSpPr/>
          <p:nvPr/>
        </p:nvSpPr>
        <p:spPr>
          <a:xfrm>
            <a:off x="6400800" y="3127248"/>
            <a:ext cx="182880" cy="182880"/>
          </a:xfrm>
          <a:prstGeom prst="ellipse">
            <a:avLst/>
          </a:prstGeom>
          <a:solidFill>
            <a:srgbClr val="7AB648"/>
          </a:solidFill>
          <a:ln/>
        </p:spPr>
        <p:txBody>
          <a:bodyPr/>
          <a:lstStyle/>
          <a:p>
            <a:endParaRPr lang="en-US"/>
          </a:p>
        </p:txBody>
      </p:sp>
      <p:sp>
        <p:nvSpPr>
          <p:cNvPr id="18" name="Text 16"/>
          <p:cNvSpPr/>
          <p:nvPr/>
        </p:nvSpPr>
        <p:spPr>
          <a:xfrm>
            <a:off x="6766560" y="3017520"/>
            <a:ext cx="4572000" cy="411480"/>
          </a:xfrm>
          <a:prstGeom prst="rect">
            <a:avLst/>
          </a:prstGeom>
          <a:noFill/>
          <a:ln/>
        </p:spPr>
        <p:txBody>
          <a:bodyPr wrap="square"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Snapshot expiration &amp; orphan cleanup</a:t>
            </a:r>
            <a:endParaRPr lang="en-US" sz="1300" dirty="0"/>
          </a:p>
        </p:txBody>
      </p:sp>
      <p:sp>
        <p:nvSpPr>
          <p:cNvPr id="19" name="Shape 17"/>
          <p:cNvSpPr/>
          <p:nvPr/>
        </p:nvSpPr>
        <p:spPr>
          <a:xfrm>
            <a:off x="6400800" y="3813048"/>
            <a:ext cx="182880" cy="182880"/>
          </a:xfrm>
          <a:prstGeom prst="ellipse">
            <a:avLst/>
          </a:prstGeom>
          <a:solidFill>
            <a:srgbClr val="7AB648"/>
          </a:solidFill>
          <a:ln/>
        </p:spPr>
        <p:txBody>
          <a:bodyPr/>
          <a:lstStyle/>
          <a:p>
            <a:endParaRPr lang="en-US"/>
          </a:p>
        </p:txBody>
      </p:sp>
      <p:sp>
        <p:nvSpPr>
          <p:cNvPr id="20" name="Text 18"/>
          <p:cNvSpPr/>
          <p:nvPr/>
        </p:nvSpPr>
        <p:spPr>
          <a:xfrm>
            <a:off x="6766560" y="3703320"/>
            <a:ext cx="4572000" cy="411480"/>
          </a:xfrm>
          <a:prstGeom prst="rect">
            <a:avLst/>
          </a:prstGeom>
          <a:noFill/>
          <a:ln/>
        </p:spPr>
        <p:txBody>
          <a:bodyPr wrap="square"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Schema evolution without breaking queries</a:t>
            </a:r>
            <a:endParaRPr lang="en-US" sz="1300" dirty="0"/>
          </a:p>
        </p:txBody>
      </p:sp>
      <p:sp>
        <p:nvSpPr>
          <p:cNvPr id="21" name="Shape 19"/>
          <p:cNvSpPr/>
          <p:nvPr/>
        </p:nvSpPr>
        <p:spPr>
          <a:xfrm>
            <a:off x="6400800" y="4498848"/>
            <a:ext cx="182880" cy="182880"/>
          </a:xfrm>
          <a:prstGeom prst="ellipse">
            <a:avLst/>
          </a:prstGeom>
          <a:solidFill>
            <a:srgbClr val="7AB648"/>
          </a:solidFill>
          <a:ln/>
        </p:spPr>
        <p:txBody>
          <a:bodyPr/>
          <a:lstStyle/>
          <a:p>
            <a:endParaRPr lang="en-US"/>
          </a:p>
        </p:txBody>
      </p:sp>
      <p:sp>
        <p:nvSpPr>
          <p:cNvPr id="22" name="Text 20"/>
          <p:cNvSpPr/>
          <p:nvPr/>
        </p:nvSpPr>
        <p:spPr>
          <a:xfrm>
            <a:off x="6766560" y="4389120"/>
            <a:ext cx="4572000" cy="411480"/>
          </a:xfrm>
          <a:prstGeom prst="rect">
            <a:avLst/>
          </a:prstGeom>
          <a:noFill/>
          <a:ln/>
        </p:spPr>
        <p:txBody>
          <a:bodyPr wrap="square"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Single governed source of truth</a:t>
            </a:r>
            <a:endParaRPr lang="en-US" sz="1300" dirty="0"/>
          </a:p>
        </p:txBody>
      </p:sp>
      <p:sp>
        <p:nvSpPr>
          <p:cNvPr id="23" name="Shape 21"/>
          <p:cNvSpPr/>
          <p:nvPr/>
        </p:nvSpPr>
        <p:spPr>
          <a:xfrm>
            <a:off x="731520" y="4206240"/>
            <a:ext cx="5029200" cy="54864"/>
          </a:xfrm>
          <a:prstGeom prst="roundRect">
            <a:avLst/>
          </a:prstGeom>
          <a:solidFill>
            <a:srgbClr val="7AB648"/>
          </a:solidFill>
          <a:ln/>
        </p:spPr>
        <p:txBody>
          <a:bodyPr/>
          <a:lstStyle/>
          <a:p>
            <a:endParaRPr lang="en-US"/>
          </a:p>
        </p:txBody>
      </p:sp>
      <p:sp>
        <p:nvSpPr>
          <p:cNvPr id="24" name="Text 22"/>
          <p:cNvSpPr/>
          <p:nvPr/>
        </p:nvSpPr>
        <p:spPr>
          <a:xfrm>
            <a:off x="10972800" y="6400800"/>
            <a:ext cx="914400" cy="274320"/>
          </a:xfrm>
          <a:prstGeom prst="rect">
            <a:avLst/>
          </a:prstGeom>
          <a:noFill/>
          <a:ln/>
        </p:spPr>
        <p:txBody>
          <a:bodyPr wrap="square" rtlCol="0" anchor="ctr"/>
          <a:lstStyle/>
          <a:p>
            <a:pPr marL="0" indent="0" algn="r">
              <a:buNone/>
            </a:pPr>
            <a:r>
              <a:rPr lang="en-US" sz="900" dirty="0">
                <a:solidFill>
                  <a:srgbClr val="666699"/>
                </a:solidFill>
                <a:latin typeface="Segoe UI" pitchFamily="34" charset="0"/>
                <a:ea typeface="Segoe UI" pitchFamily="34" charset="-122"/>
                <a:cs typeface="Segoe U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B2D"/>
        </a:solidFill>
        <a:effectLst/>
      </p:bgPr>
    </p:bg>
    <p:spTree>
      <p:nvGrpSpPr>
        <p:cNvPr id="1" name=""/>
        <p:cNvGrpSpPr/>
        <p:nvPr/>
      </p:nvGrpSpPr>
      <p:grpSpPr>
        <a:xfrm>
          <a:off x="0" y="0"/>
          <a:ext cx="0" cy="0"/>
          <a:chOff x="0" y="0"/>
          <a:chExt cx="0" cy="0"/>
        </a:xfrm>
      </p:grpSpPr>
      <p:sp>
        <p:nvSpPr>
          <p:cNvPr id="2" name="Shape 0"/>
          <p:cNvSpPr/>
          <p:nvPr/>
        </p:nvSpPr>
        <p:spPr>
          <a:xfrm>
            <a:off x="7772400" y="-1828800"/>
            <a:ext cx="6400800" cy="6400800"/>
          </a:xfrm>
          <a:prstGeom prst="ellipse">
            <a:avLst/>
          </a:prstGeom>
          <a:solidFill>
            <a:srgbClr val="6B0AC9"/>
          </a:solidFill>
          <a:ln/>
        </p:spPr>
        <p:txBody>
          <a:bodyPr/>
          <a:lstStyle/>
          <a:p>
            <a:endParaRPr lang="en-US"/>
          </a:p>
        </p:txBody>
      </p:sp>
      <p:sp>
        <p:nvSpPr>
          <p:cNvPr id="3" name="Shape 1"/>
          <p:cNvSpPr/>
          <p:nvPr/>
        </p:nvSpPr>
        <p:spPr>
          <a:xfrm>
            <a:off x="8686800" y="-1371600"/>
            <a:ext cx="4572000" cy="4572000"/>
          </a:xfrm>
          <a:prstGeom prst="ellipse">
            <a:avLst/>
          </a:prstGeom>
          <a:solidFill>
            <a:srgbClr val="4A07A0"/>
          </a:solidFill>
          <a:ln/>
        </p:spPr>
        <p:txBody>
          <a:bodyPr/>
          <a:lstStyle/>
          <a:p>
            <a:endParaRPr lang="en-US"/>
          </a:p>
        </p:txBody>
      </p:sp>
      <p:sp>
        <p:nvSpPr>
          <p:cNvPr id="4" name="Text 2"/>
          <p:cNvSpPr/>
          <p:nvPr/>
        </p:nvSpPr>
        <p:spPr>
          <a:xfrm>
            <a:off x="731520" y="365760"/>
            <a:ext cx="7315200" cy="548640"/>
          </a:xfrm>
          <a:prstGeom prst="rect">
            <a:avLst/>
          </a:prstGeom>
          <a:noFill/>
          <a:ln/>
        </p:spPr>
        <p:txBody>
          <a:bodyPr wrap="square" rtlCol="0" anchor="ctr"/>
          <a:lstStyle/>
          <a:p>
            <a:pPr marL="0" indent="0" algn="l">
              <a:buNone/>
            </a:pPr>
            <a:r>
              <a:rPr lang="en-US" sz="3200" kern="0" spc="200" dirty="0">
                <a:solidFill>
                  <a:srgbClr val="FFFFFF"/>
                </a:solidFill>
                <a:latin typeface="Segoe UI" pitchFamily="34" charset="0"/>
                <a:ea typeface="Segoe UI" pitchFamily="34" charset="-122"/>
                <a:cs typeface="Segoe UI" pitchFamily="34" charset="-120"/>
              </a:rPr>
              <a:t>ANALYTICS LAYER</a:t>
            </a:r>
            <a:endParaRPr lang="en-US" sz="3200" dirty="0"/>
          </a:p>
        </p:txBody>
      </p:sp>
      <p:sp>
        <p:nvSpPr>
          <p:cNvPr id="5" name="Text 3"/>
          <p:cNvSpPr/>
          <p:nvPr/>
        </p:nvSpPr>
        <p:spPr>
          <a:xfrm>
            <a:off x="731520" y="914400"/>
            <a:ext cx="9144000" cy="320040"/>
          </a:xfrm>
          <a:prstGeom prst="rect">
            <a:avLst/>
          </a:prstGeom>
          <a:noFill/>
          <a:ln/>
        </p:spPr>
        <p:txBody>
          <a:bodyPr wrap="square" rtlCol="0" anchor="ctr"/>
          <a:lstStyle/>
          <a:p>
            <a:pPr marL="0" indent="0" algn="l">
              <a:buNone/>
            </a:pPr>
            <a:r>
              <a:rPr lang="en-US" sz="1400" dirty="0">
                <a:solidFill>
                  <a:srgbClr val="B8B8D0"/>
                </a:solidFill>
                <a:latin typeface="Segoe UI Light" pitchFamily="34" charset="0"/>
                <a:ea typeface="Segoe UI Light" pitchFamily="34" charset="-122"/>
                <a:cs typeface="Segoe UI Light" pitchFamily="34" charset="-120"/>
              </a:rPr>
              <a:t>Amazon QuickSight Direct Query — Native S3 Tables Connector</a:t>
            </a:r>
            <a:endParaRPr lang="en-US" sz="1400" dirty="0"/>
          </a:p>
        </p:txBody>
      </p:sp>
      <p:sp>
        <p:nvSpPr>
          <p:cNvPr id="6" name="Text 4"/>
          <p:cNvSpPr/>
          <p:nvPr/>
        </p:nvSpPr>
        <p:spPr>
          <a:xfrm>
            <a:off x="731520" y="1554480"/>
            <a:ext cx="5029200" cy="365760"/>
          </a:xfrm>
          <a:prstGeom prst="rect">
            <a:avLst/>
          </a:prstGeom>
          <a:noFill/>
          <a:ln/>
        </p:spPr>
        <p:txBody>
          <a:bodyPr wrap="square" rtlCol="0" anchor="ctr"/>
          <a:lstStyle/>
          <a:p>
            <a:pPr marL="0" indent="0" algn="l">
              <a:buNone/>
            </a:pPr>
            <a:r>
              <a:rPr lang="en-US" sz="1800" b="1" dirty="0">
                <a:solidFill>
                  <a:srgbClr val="FF2D8A"/>
                </a:solidFill>
                <a:latin typeface="Segoe UI" pitchFamily="34" charset="0"/>
                <a:ea typeface="Segoe UI" pitchFamily="34" charset="-122"/>
                <a:cs typeface="Segoe UI" pitchFamily="34" charset="-120"/>
              </a:rPr>
              <a:t>How It Works</a:t>
            </a:r>
            <a:endParaRPr lang="en-US" sz="1800" dirty="0"/>
          </a:p>
        </p:txBody>
      </p:sp>
      <p:sp>
        <p:nvSpPr>
          <p:cNvPr id="7" name="Shape 5"/>
          <p:cNvSpPr/>
          <p:nvPr/>
        </p:nvSpPr>
        <p:spPr>
          <a:xfrm>
            <a:off x="914400" y="2057400"/>
            <a:ext cx="411480" cy="411480"/>
          </a:xfrm>
          <a:prstGeom prst="ellipse">
            <a:avLst/>
          </a:prstGeom>
          <a:solidFill>
            <a:srgbClr val="FF2D8A"/>
          </a:solidFill>
          <a:ln/>
        </p:spPr>
        <p:txBody>
          <a:bodyPr/>
          <a:lstStyle/>
          <a:p>
            <a:endParaRPr lang="en-US"/>
          </a:p>
        </p:txBody>
      </p:sp>
      <p:sp>
        <p:nvSpPr>
          <p:cNvPr id="8" name="Text 6"/>
          <p:cNvSpPr/>
          <p:nvPr/>
        </p:nvSpPr>
        <p:spPr>
          <a:xfrm>
            <a:off x="914400" y="2057400"/>
            <a:ext cx="411480" cy="41148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9" name="Text 7"/>
          <p:cNvSpPr/>
          <p:nvPr/>
        </p:nvSpPr>
        <p:spPr>
          <a:xfrm>
            <a:off x="1554480" y="2011680"/>
            <a:ext cx="4572000" cy="502920"/>
          </a:xfrm>
          <a:prstGeom prst="rect">
            <a:avLst/>
          </a:prstGeom>
          <a:noFill/>
          <a:ln/>
        </p:spPr>
        <p:txBody>
          <a:bodyPr wrap="square" rtlCol="0" anchor="ctr"/>
          <a:lstStyle/>
          <a:p>
            <a:pPr marL="0" indent="0" algn="l">
              <a:buNone/>
            </a:pPr>
            <a:r>
              <a:rPr lang="en-US" sz="1200" dirty="0">
                <a:solidFill>
                  <a:srgbClr val="D8D8F0"/>
                </a:solidFill>
                <a:latin typeface="Segoe UI Light" pitchFamily="34" charset="0"/>
                <a:ea typeface="Segoe UI Light" pitchFamily="34" charset="-122"/>
                <a:cs typeface="Segoe UI Light" pitchFamily="34" charset="-120"/>
              </a:rPr>
              <a:t>Connect QuickSight to S3 Table bucket (native data source)</a:t>
            </a:r>
            <a:endParaRPr lang="en-US" sz="1200" dirty="0"/>
          </a:p>
        </p:txBody>
      </p:sp>
      <p:sp>
        <p:nvSpPr>
          <p:cNvPr id="10" name="Shape 8"/>
          <p:cNvSpPr/>
          <p:nvPr/>
        </p:nvSpPr>
        <p:spPr>
          <a:xfrm>
            <a:off x="914400" y="2880360"/>
            <a:ext cx="411480" cy="411480"/>
          </a:xfrm>
          <a:prstGeom prst="ellipse">
            <a:avLst/>
          </a:prstGeom>
          <a:solidFill>
            <a:srgbClr val="FF2D8A"/>
          </a:solidFill>
          <a:ln/>
        </p:spPr>
        <p:txBody>
          <a:bodyPr/>
          <a:lstStyle/>
          <a:p>
            <a:endParaRPr lang="en-US"/>
          </a:p>
        </p:txBody>
      </p:sp>
      <p:sp>
        <p:nvSpPr>
          <p:cNvPr id="11" name="Text 9"/>
          <p:cNvSpPr/>
          <p:nvPr/>
        </p:nvSpPr>
        <p:spPr>
          <a:xfrm>
            <a:off x="914400" y="2880360"/>
            <a:ext cx="411480" cy="41148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2" name="Text 10"/>
          <p:cNvSpPr/>
          <p:nvPr/>
        </p:nvSpPr>
        <p:spPr>
          <a:xfrm>
            <a:off x="1554480" y="2834640"/>
            <a:ext cx="4572000" cy="502920"/>
          </a:xfrm>
          <a:prstGeom prst="rect">
            <a:avLst/>
          </a:prstGeom>
          <a:noFill/>
          <a:ln/>
        </p:spPr>
        <p:txBody>
          <a:bodyPr wrap="square" rtlCol="0" anchor="ctr"/>
          <a:lstStyle/>
          <a:p>
            <a:pPr marL="0" indent="0" algn="l">
              <a:buNone/>
            </a:pPr>
            <a:r>
              <a:rPr lang="en-US" sz="1200" dirty="0">
                <a:solidFill>
                  <a:srgbClr val="D8D8F0"/>
                </a:solidFill>
                <a:latin typeface="Segoe UI Light" pitchFamily="34" charset="0"/>
                <a:ea typeface="Segoe UI Light" pitchFamily="34" charset="-122"/>
                <a:cs typeface="Segoe UI Light" pitchFamily="34" charset="-120"/>
              </a:rPr>
              <a:t>Select namespace &amp; table → choose Direct Query mode</a:t>
            </a:r>
            <a:endParaRPr lang="en-US" sz="1200" dirty="0"/>
          </a:p>
        </p:txBody>
      </p:sp>
      <p:sp>
        <p:nvSpPr>
          <p:cNvPr id="13" name="Shape 11"/>
          <p:cNvSpPr/>
          <p:nvPr/>
        </p:nvSpPr>
        <p:spPr>
          <a:xfrm>
            <a:off x="914400" y="3703320"/>
            <a:ext cx="411480" cy="411480"/>
          </a:xfrm>
          <a:prstGeom prst="ellipse">
            <a:avLst/>
          </a:prstGeom>
          <a:solidFill>
            <a:srgbClr val="FF2D8A"/>
          </a:solidFill>
          <a:ln/>
        </p:spPr>
        <p:txBody>
          <a:bodyPr/>
          <a:lstStyle/>
          <a:p>
            <a:endParaRPr lang="en-US"/>
          </a:p>
        </p:txBody>
      </p:sp>
      <p:sp>
        <p:nvSpPr>
          <p:cNvPr id="14" name="Text 12"/>
          <p:cNvSpPr/>
          <p:nvPr/>
        </p:nvSpPr>
        <p:spPr>
          <a:xfrm>
            <a:off x="914400" y="3703320"/>
            <a:ext cx="411480" cy="41148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15" name="Text 13"/>
          <p:cNvSpPr/>
          <p:nvPr/>
        </p:nvSpPr>
        <p:spPr>
          <a:xfrm>
            <a:off x="1554480" y="3657600"/>
            <a:ext cx="4572000" cy="502920"/>
          </a:xfrm>
          <a:prstGeom prst="rect">
            <a:avLst/>
          </a:prstGeom>
          <a:noFill/>
          <a:ln/>
        </p:spPr>
        <p:txBody>
          <a:bodyPr wrap="square" rtlCol="0" anchor="ctr"/>
          <a:lstStyle/>
          <a:p>
            <a:pPr marL="0" indent="0" algn="l">
              <a:buNone/>
            </a:pPr>
            <a:r>
              <a:rPr lang="en-US" sz="1200" dirty="0">
                <a:solidFill>
                  <a:srgbClr val="D8D8F0"/>
                </a:solidFill>
                <a:latin typeface="Segoe UI Light" pitchFamily="34" charset="0"/>
                <a:ea typeface="Segoe UI Light" pitchFamily="34" charset="-122"/>
                <a:cs typeface="Segoe UI Light" pitchFamily="34" charset="-120"/>
              </a:rPr>
              <a:t>Every query hits live Iceberg data — always fresh</a:t>
            </a:r>
            <a:endParaRPr lang="en-US" sz="1200" dirty="0"/>
          </a:p>
        </p:txBody>
      </p:sp>
      <p:sp>
        <p:nvSpPr>
          <p:cNvPr id="16" name="Shape 14"/>
          <p:cNvSpPr/>
          <p:nvPr/>
        </p:nvSpPr>
        <p:spPr>
          <a:xfrm>
            <a:off x="914400" y="4526280"/>
            <a:ext cx="411480" cy="411480"/>
          </a:xfrm>
          <a:prstGeom prst="ellipse">
            <a:avLst/>
          </a:prstGeom>
          <a:solidFill>
            <a:srgbClr val="FF2D8A"/>
          </a:solidFill>
          <a:ln/>
        </p:spPr>
        <p:txBody>
          <a:bodyPr/>
          <a:lstStyle/>
          <a:p>
            <a:endParaRPr lang="en-US"/>
          </a:p>
        </p:txBody>
      </p:sp>
      <p:sp>
        <p:nvSpPr>
          <p:cNvPr id="17" name="Text 15"/>
          <p:cNvSpPr/>
          <p:nvPr/>
        </p:nvSpPr>
        <p:spPr>
          <a:xfrm>
            <a:off x="914400" y="4526280"/>
            <a:ext cx="411480" cy="41148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18" name="Text 16"/>
          <p:cNvSpPr/>
          <p:nvPr/>
        </p:nvSpPr>
        <p:spPr>
          <a:xfrm>
            <a:off x="1554480" y="4480560"/>
            <a:ext cx="4572000" cy="502920"/>
          </a:xfrm>
          <a:prstGeom prst="rect">
            <a:avLst/>
          </a:prstGeom>
          <a:noFill/>
          <a:ln/>
        </p:spPr>
        <p:txBody>
          <a:bodyPr wrap="square" rtlCol="0" anchor="ctr"/>
          <a:lstStyle/>
          <a:p>
            <a:pPr marL="0" indent="0" algn="l">
              <a:buNone/>
            </a:pPr>
            <a:r>
              <a:rPr lang="en-US" sz="1200" dirty="0">
                <a:solidFill>
                  <a:srgbClr val="D8D8F0"/>
                </a:solidFill>
                <a:latin typeface="Segoe UI Light" pitchFamily="34" charset="0"/>
                <a:ea typeface="Segoe UI Light" pitchFamily="34" charset="-122"/>
                <a:cs typeface="Segoe UI Light" pitchFamily="34" charset="-120"/>
              </a:rPr>
              <a:t>Build dashboards OR use AI chat agent for NL queries</a:t>
            </a:r>
            <a:endParaRPr lang="en-US" sz="1200" dirty="0"/>
          </a:p>
        </p:txBody>
      </p:sp>
      <p:sp>
        <p:nvSpPr>
          <p:cNvPr id="19" name="Shape 17"/>
          <p:cNvSpPr/>
          <p:nvPr/>
        </p:nvSpPr>
        <p:spPr>
          <a:xfrm>
            <a:off x="6675120" y="1554480"/>
            <a:ext cx="4754880" cy="4114800"/>
          </a:xfrm>
          <a:prstGeom prst="roundRect">
            <a:avLst>
              <a:gd name="adj" fmla="val 1333"/>
            </a:avLst>
          </a:prstGeom>
          <a:solidFill>
            <a:srgbClr val="0D1147"/>
          </a:solidFill>
          <a:ln w="15240">
            <a:solidFill>
              <a:srgbClr val="FF2D8A"/>
            </a:solidFill>
            <a:prstDash val="solid"/>
          </a:ln>
        </p:spPr>
        <p:txBody>
          <a:bodyPr/>
          <a:lstStyle/>
          <a:p>
            <a:endParaRPr lang="en-US"/>
          </a:p>
        </p:txBody>
      </p:sp>
      <p:sp>
        <p:nvSpPr>
          <p:cNvPr id="20" name="Text 18"/>
          <p:cNvSpPr/>
          <p:nvPr/>
        </p:nvSpPr>
        <p:spPr>
          <a:xfrm>
            <a:off x="6858000" y="1737360"/>
            <a:ext cx="4389120" cy="365760"/>
          </a:xfrm>
          <a:prstGeom prst="rect">
            <a:avLst/>
          </a:prstGeom>
          <a:noFill/>
          <a:ln/>
        </p:spPr>
        <p:txBody>
          <a:bodyPr wrap="square" rtlCol="0" anchor="ctr"/>
          <a:lstStyle/>
          <a:p>
            <a:pPr marL="0" indent="0" algn="l">
              <a:buNone/>
            </a:pPr>
            <a:r>
              <a:rPr lang="en-US" sz="1600" b="1" dirty="0">
                <a:solidFill>
                  <a:srgbClr val="FF2D8A"/>
                </a:solidFill>
                <a:latin typeface="Segoe UI" pitchFamily="34" charset="0"/>
                <a:ea typeface="Segoe UI" pitchFamily="34" charset="-122"/>
                <a:cs typeface="Segoe UI" pitchFamily="34" charset="-120"/>
              </a:rPr>
              <a:t>What's New (May 2026)</a:t>
            </a:r>
            <a:endParaRPr lang="en-US" sz="1600" dirty="0"/>
          </a:p>
        </p:txBody>
      </p:sp>
      <p:sp>
        <p:nvSpPr>
          <p:cNvPr id="21" name="Text 19"/>
          <p:cNvSpPr/>
          <p:nvPr/>
        </p:nvSpPr>
        <p:spPr>
          <a:xfrm>
            <a:off x="7132320" y="2286000"/>
            <a:ext cx="4114800" cy="457200"/>
          </a:xfrm>
          <a:prstGeom prst="rect">
            <a:avLst/>
          </a:prstGeom>
          <a:noFill/>
          <a:ln/>
        </p:spPr>
        <p:txBody>
          <a:bodyPr wrap="square" rtlCol="0" anchor="ctr"/>
          <a:lstStyle/>
          <a:p>
            <a:pPr marL="0" indent="0" algn="l">
              <a:buNone/>
            </a:pPr>
            <a:r>
              <a:rPr lang="en-US" sz="1200" dirty="0">
                <a:solidFill>
                  <a:srgbClr val="FFFFFF"/>
                </a:solidFill>
                <a:latin typeface="Segoe UI" pitchFamily="34" charset="0"/>
                <a:ea typeface="Segoe UI" pitchFamily="34" charset="-122"/>
                <a:cs typeface="Segoe UI" pitchFamily="34" charset="-120"/>
              </a:rPr>
              <a:t>✨  Native S3 Tables data source</a:t>
            </a:r>
            <a:endParaRPr lang="en-US" sz="1200" dirty="0"/>
          </a:p>
        </p:txBody>
      </p:sp>
      <p:sp>
        <p:nvSpPr>
          <p:cNvPr id="22" name="Text 20"/>
          <p:cNvSpPr/>
          <p:nvPr/>
        </p:nvSpPr>
        <p:spPr>
          <a:xfrm>
            <a:off x="7132320" y="2926080"/>
            <a:ext cx="4114800" cy="457200"/>
          </a:xfrm>
          <a:prstGeom prst="rect">
            <a:avLst/>
          </a:prstGeom>
          <a:noFill/>
          <a:ln/>
        </p:spPr>
        <p:txBody>
          <a:bodyPr wrap="square" rtlCol="0" anchor="ctr"/>
          <a:lstStyle/>
          <a:p>
            <a:pPr marL="0" indent="0" algn="l">
              <a:buNone/>
            </a:pPr>
            <a:r>
              <a:rPr lang="en-US" sz="1200" dirty="0">
                <a:solidFill>
                  <a:srgbClr val="FFFFFF"/>
                </a:solidFill>
                <a:latin typeface="Segoe UI" pitchFamily="34" charset="0"/>
                <a:ea typeface="Segoe UI" pitchFamily="34" charset="-122"/>
                <a:cs typeface="Segoe UI" pitchFamily="34" charset="-120"/>
              </a:rPr>
              <a:t>✨  No Athena/Redshift required</a:t>
            </a:r>
            <a:endParaRPr lang="en-US" sz="1200" dirty="0"/>
          </a:p>
        </p:txBody>
      </p:sp>
      <p:sp>
        <p:nvSpPr>
          <p:cNvPr id="23" name="Text 21"/>
          <p:cNvSpPr/>
          <p:nvPr/>
        </p:nvSpPr>
        <p:spPr>
          <a:xfrm>
            <a:off x="7132320" y="3566160"/>
            <a:ext cx="4114800" cy="457200"/>
          </a:xfrm>
          <a:prstGeom prst="rect">
            <a:avLst/>
          </a:prstGeom>
          <a:noFill/>
          <a:ln/>
        </p:spPr>
        <p:txBody>
          <a:bodyPr wrap="square" rtlCol="0" anchor="ctr"/>
          <a:lstStyle/>
          <a:p>
            <a:pPr marL="0" indent="0" algn="l">
              <a:buNone/>
            </a:pPr>
            <a:r>
              <a:rPr lang="en-US" sz="1200" dirty="0">
                <a:solidFill>
                  <a:srgbClr val="FFFFFF"/>
                </a:solidFill>
                <a:latin typeface="Segoe UI" pitchFamily="34" charset="0"/>
                <a:ea typeface="Segoe UI" pitchFamily="34" charset="-122"/>
                <a:cs typeface="Segoe UI" pitchFamily="34" charset="-120"/>
              </a:rPr>
              <a:t>✨  Direct Query = real-time freshness</a:t>
            </a:r>
            <a:endParaRPr lang="en-US" sz="1200" dirty="0"/>
          </a:p>
        </p:txBody>
      </p:sp>
      <p:sp>
        <p:nvSpPr>
          <p:cNvPr id="24" name="Text 22"/>
          <p:cNvSpPr/>
          <p:nvPr/>
        </p:nvSpPr>
        <p:spPr>
          <a:xfrm>
            <a:off x="7132320" y="4206240"/>
            <a:ext cx="4114800" cy="457200"/>
          </a:xfrm>
          <a:prstGeom prst="rect">
            <a:avLst/>
          </a:prstGeom>
          <a:noFill/>
          <a:ln/>
        </p:spPr>
        <p:txBody>
          <a:bodyPr wrap="square" rtlCol="0" anchor="ctr"/>
          <a:lstStyle/>
          <a:p>
            <a:pPr marL="0" indent="0" algn="l">
              <a:buNone/>
            </a:pPr>
            <a:r>
              <a:rPr lang="en-US" sz="1200" dirty="0">
                <a:solidFill>
                  <a:srgbClr val="FFFFFF"/>
                </a:solidFill>
                <a:latin typeface="Segoe UI" pitchFamily="34" charset="0"/>
                <a:ea typeface="Segoe UI" pitchFamily="34" charset="-122"/>
                <a:cs typeface="Segoe UI" pitchFamily="34" charset="-120"/>
              </a:rPr>
              <a:t>✨  AI-powered natural language chat</a:t>
            </a:r>
            <a:endParaRPr lang="en-US" sz="1200" dirty="0"/>
          </a:p>
        </p:txBody>
      </p:sp>
      <p:sp>
        <p:nvSpPr>
          <p:cNvPr id="25" name="Text 23"/>
          <p:cNvSpPr/>
          <p:nvPr/>
        </p:nvSpPr>
        <p:spPr>
          <a:xfrm>
            <a:off x="7132320" y="4846320"/>
            <a:ext cx="4114800" cy="457200"/>
          </a:xfrm>
          <a:prstGeom prst="rect">
            <a:avLst/>
          </a:prstGeom>
          <a:noFill/>
          <a:ln/>
        </p:spPr>
        <p:txBody>
          <a:bodyPr wrap="square" rtlCol="0" anchor="ctr"/>
          <a:lstStyle/>
          <a:p>
            <a:pPr marL="0" indent="0" algn="l">
              <a:buNone/>
            </a:pPr>
            <a:r>
              <a:rPr lang="en-US" sz="1200" dirty="0">
                <a:solidFill>
                  <a:srgbClr val="FFFFFF"/>
                </a:solidFill>
                <a:latin typeface="Segoe UI" pitchFamily="34" charset="0"/>
                <a:ea typeface="Segoe UI" pitchFamily="34" charset="-122"/>
                <a:cs typeface="Segoe UI" pitchFamily="34" charset="-120"/>
              </a:rPr>
              <a:t>✨  Geospatial visualization support</a:t>
            </a:r>
            <a:endParaRPr lang="en-US" sz="1200" dirty="0"/>
          </a:p>
        </p:txBody>
      </p:sp>
      <p:sp>
        <p:nvSpPr>
          <p:cNvPr id="26" name="Text 24"/>
          <p:cNvSpPr/>
          <p:nvPr/>
        </p:nvSpPr>
        <p:spPr>
          <a:xfrm>
            <a:off x="10972800" y="6400800"/>
            <a:ext cx="914400" cy="274320"/>
          </a:xfrm>
          <a:prstGeom prst="rect">
            <a:avLst/>
          </a:prstGeom>
          <a:noFill/>
          <a:ln/>
        </p:spPr>
        <p:txBody>
          <a:bodyPr wrap="square" rtlCol="0" anchor="ctr"/>
          <a:lstStyle/>
          <a:p>
            <a:pPr marL="0" indent="0" algn="r">
              <a:buNone/>
            </a:pPr>
            <a:r>
              <a:rPr lang="en-US" sz="900" dirty="0">
                <a:solidFill>
                  <a:srgbClr val="666699"/>
                </a:solidFill>
                <a:latin typeface="Segoe UI" pitchFamily="34" charset="0"/>
                <a:ea typeface="Segoe UI" pitchFamily="34" charset="-122"/>
                <a:cs typeface="Segoe U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B2D"/>
        </a:solidFill>
        <a:effectLst/>
      </p:bgPr>
    </p:bg>
    <p:spTree>
      <p:nvGrpSpPr>
        <p:cNvPr id="1" name=""/>
        <p:cNvGrpSpPr/>
        <p:nvPr/>
      </p:nvGrpSpPr>
      <p:grpSpPr>
        <a:xfrm>
          <a:off x="0" y="0"/>
          <a:ext cx="0" cy="0"/>
          <a:chOff x="0" y="0"/>
          <a:chExt cx="0" cy="0"/>
        </a:xfrm>
      </p:grpSpPr>
      <p:sp>
        <p:nvSpPr>
          <p:cNvPr id="2" name="Shape 0"/>
          <p:cNvSpPr/>
          <p:nvPr/>
        </p:nvSpPr>
        <p:spPr>
          <a:xfrm>
            <a:off x="7772400" y="-1828800"/>
            <a:ext cx="6400800" cy="6400800"/>
          </a:xfrm>
          <a:prstGeom prst="ellipse">
            <a:avLst/>
          </a:prstGeom>
          <a:solidFill>
            <a:srgbClr val="6B0AC9"/>
          </a:solidFill>
          <a:ln/>
        </p:spPr>
        <p:txBody>
          <a:bodyPr/>
          <a:lstStyle/>
          <a:p>
            <a:endParaRPr lang="en-US"/>
          </a:p>
        </p:txBody>
      </p:sp>
      <p:sp>
        <p:nvSpPr>
          <p:cNvPr id="3" name="Shape 1"/>
          <p:cNvSpPr/>
          <p:nvPr/>
        </p:nvSpPr>
        <p:spPr>
          <a:xfrm>
            <a:off x="8686800" y="-1371600"/>
            <a:ext cx="4572000" cy="4572000"/>
          </a:xfrm>
          <a:prstGeom prst="ellipse">
            <a:avLst/>
          </a:prstGeom>
          <a:solidFill>
            <a:srgbClr val="4A07A0"/>
          </a:solidFill>
          <a:ln/>
        </p:spPr>
        <p:txBody>
          <a:bodyPr/>
          <a:lstStyle/>
          <a:p>
            <a:endParaRPr lang="en-US"/>
          </a:p>
        </p:txBody>
      </p:sp>
      <p:sp>
        <p:nvSpPr>
          <p:cNvPr id="4" name="Text 2"/>
          <p:cNvSpPr/>
          <p:nvPr/>
        </p:nvSpPr>
        <p:spPr>
          <a:xfrm>
            <a:off x="731520" y="365760"/>
            <a:ext cx="7315200" cy="548640"/>
          </a:xfrm>
          <a:prstGeom prst="rect">
            <a:avLst/>
          </a:prstGeom>
          <a:noFill/>
          <a:ln/>
        </p:spPr>
        <p:txBody>
          <a:bodyPr wrap="square" rtlCol="0" anchor="ctr"/>
          <a:lstStyle/>
          <a:p>
            <a:pPr marL="0" indent="0" algn="l">
              <a:buNone/>
            </a:pPr>
            <a:r>
              <a:rPr lang="en-US" sz="3200" kern="0" spc="200" dirty="0">
                <a:solidFill>
                  <a:srgbClr val="FFFFFF"/>
                </a:solidFill>
                <a:latin typeface="Segoe UI" pitchFamily="34" charset="0"/>
                <a:ea typeface="Segoe UI" pitchFamily="34" charset="-122"/>
                <a:cs typeface="Segoe UI" pitchFamily="34" charset="-120"/>
              </a:rPr>
              <a:t>KEY BENEFITS</a:t>
            </a:r>
            <a:endParaRPr lang="en-US" sz="3200" dirty="0"/>
          </a:p>
        </p:txBody>
      </p:sp>
      <p:sp>
        <p:nvSpPr>
          <p:cNvPr id="5" name="Text 3"/>
          <p:cNvSpPr/>
          <p:nvPr/>
        </p:nvSpPr>
        <p:spPr>
          <a:xfrm>
            <a:off x="731520" y="914400"/>
            <a:ext cx="7315200" cy="320040"/>
          </a:xfrm>
          <a:prstGeom prst="rect">
            <a:avLst/>
          </a:prstGeom>
          <a:noFill/>
          <a:ln/>
        </p:spPr>
        <p:txBody>
          <a:bodyPr wrap="square" rtlCol="0" anchor="ctr"/>
          <a:lstStyle/>
          <a:p>
            <a:pPr marL="0" indent="0" algn="l">
              <a:buNone/>
            </a:pPr>
            <a:r>
              <a:rPr lang="en-US" sz="1400" dirty="0">
                <a:solidFill>
                  <a:srgbClr val="B8B8D0"/>
                </a:solidFill>
                <a:latin typeface="Segoe UI Light" pitchFamily="34" charset="0"/>
                <a:ea typeface="Segoe UI Light" pitchFamily="34" charset="-122"/>
                <a:cs typeface="Segoe UI Light" pitchFamily="34" charset="-120"/>
              </a:rPr>
              <a:t>Traditional architecture vs. this pattern</a:t>
            </a:r>
            <a:endParaRPr lang="en-US" sz="1400" dirty="0"/>
          </a:p>
        </p:txBody>
      </p:sp>
      <p:sp>
        <p:nvSpPr>
          <p:cNvPr id="6" name="Shape 4"/>
          <p:cNvSpPr/>
          <p:nvPr/>
        </p:nvSpPr>
        <p:spPr>
          <a:xfrm>
            <a:off x="731520" y="1463040"/>
            <a:ext cx="10698480" cy="640080"/>
          </a:xfrm>
          <a:prstGeom prst="rect">
            <a:avLst/>
          </a:prstGeom>
          <a:solidFill>
            <a:srgbClr val="1A1060"/>
          </a:solidFill>
          <a:ln/>
        </p:spPr>
        <p:txBody>
          <a:bodyPr/>
          <a:lstStyle/>
          <a:p>
            <a:endParaRPr lang="en-US"/>
          </a:p>
        </p:txBody>
      </p:sp>
      <p:sp>
        <p:nvSpPr>
          <p:cNvPr id="7" name="Text 5"/>
          <p:cNvSpPr/>
          <p:nvPr/>
        </p:nvSpPr>
        <p:spPr>
          <a:xfrm>
            <a:off x="914400" y="1463040"/>
            <a:ext cx="2743200" cy="640080"/>
          </a:xfrm>
          <a:prstGeom prst="rect">
            <a:avLst/>
          </a:prstGeom>
          <a:noFill/>
          <a:ln/>
        </p:spPr>
        <p:txBody>
          <a:bodyPr wrap="square" rtlCol="0" anchor="ctr"/>
          <a:lstStyle/>
          <a:p>
            <a:pPr marL="0" indent="0" algn="l">
              <a:buNone/>
            </a:pPr>
            <a:r>
              <a:rPr lang="en-US" sz="1200" b="1" dirty="0">
                <a:solidFill>
                  <a:srgbClr val="FF2D8A"/>
                </a:solidFill>
                <a:latin typeface="Segoe UI" pitchFamily="34" charset="0"/>
                <a:ea typeface="Segoe UI" pitchFamily="34" charset="-122"/>
                <a:cs typeface="Segoe UI" pitchFamily="34" charset="-120"/>
              </a:rPr>
              <a:t>Aspect</a:t>
            </a:r>
            <a:endParaRPr lang="en-US" sz="1200" dirty="0"/>
          </a:p>
        </p:txBody>
      </p:sp>
      <p:sp>
        <p:nvSpPr>
          <p:cNvPr id="8" name="Text 6"/>
          <p:cNvSpPr/>
          <p:nvPr/>
        </p:nvSpPr>
        <p:spPr>
          <a:xfrm>
            <a:off x="3657600" y="1463040"/>
            <a:ext cx="3657600" cy="640080"/>
          </a:xfrm>
          <a:prstGeom prst="rect">
            <a:avLst/>
          </a:prstGeom>
          <a:noFill/>
          <a:ln/>
        </p:spPr>
        <p:txBody>
          <a:bodyPr wrap="square" rtlCol="0" anchor="ctr"/>
          <a:lstStyle/>
          <a:p>
            <a:pPr marL="0" indent="0" algn="l">
              <a:buNone/>
            </a:pPr>
            <a:r>
              <a:rPr lang="en-US" sz="1200" b="1" dirty="0">
                <a:solidFill>
                  <a:srgbClr val="FF6B6B"/>
                </a:solidFill>
                <a:latin typeface="Segoe UI" pitchFamily="34" charset="0"/>
                <a:ea typeface="Segoe UI" pitchFamily="34" charset="-122"/>
                <a:cs typeface="Segoe UI" pitchFamily="34" charset="-120"/>
              </a:rPr>
              <a:t>Traditional</a:t>
            </a:r>
            <a:endParaRPr lang="en-US" sz="1200" dirty="0"/>
          </a:p>
        </p:txBody>
      </p:sp>
      <p:sp>
        <p:nvSpPr>
          <p:cNvPr id="9" name="Text 7"/>
          <p:cNvSpPr/>
          <p:nvPr/>
        </p:nvSpPr>
        <p:spPr>
          <a:xfrm>
            <a:off x="7315200" y="1463040"/>
            <a:ext cx="4114800" cy="640080"/>
          </a:xfrm>
          <a:prstGeom prst="rect">
            <a:avLst/>
          </a:prstGeom>
          <a:noFill/>
          <a:ln/>
        </p:spPr>
        <p:txBody>
          <a:bodyPr wrap="square" rtlCol="0" anchor="ctr"/>
          <a:lstStyle/>
          <a:p>
            <a:pPr marL="0" indent="0" algn="l">
              <a:buNone/>
            </a:pPr>
            <a:r>
              <a:rPr lang="en-US" sz="1200" b="1" dirty="0">
                <a:solidFill>
                  <a:srgbClr val="7AB648"/>
                </a:solidFill>
                <a:latin typeface="Segoe UI" pitchFamily="34" charset="0"/>
                <a:ea typeface="Segoe UI" pitchFamily="34" charset="-122"/>
                <a:cs typeface="Segoe UI" pitchFamily="34" charset="-120"/>
              </a:rPr>
              <a:t>This Pattern</a:t>
            </a:r>
            <a:endParaRPr lang="en-US" sz="1200" dirty="0"/>
          </a:p>
        </p:txBody>
      </p:sp>
      <p:sp>
        <p:nvSpPr>
          <p:cNvPr id="10" name="Shape 8"/>
          <p:cNvSpPr/>
          <p:nvPr/>
        </p:nvSpPr>
        <p:spPr>
          <a:xfrm>
            <a:off x="731520" y="2103120"/>
            <a:ext cx="10698480" cy="640080"/>
          </a:xfrm>
          <a:prstGeom prst="rect">
            <a:avLst/>
          </a:prstGeom>
          <a:solidFill>
            <a:srgbClr val="0D1147"/>
          </a:solidFill>
          <a:ln/>
        </p:spPr>
        <p:txBody>
          <a:bodyPr/>
          <a:lstStyle/>
          <a:p>
            <a:endParaRPr lang="en-US"/>
          </a:p>
        </p:txBody>
      </p:sp>
      <p:sp>
        <p:nvSpPr>
          <p:cNvPr id="11" name="Text 9"/>
          <p:cNvSpPr/>
          <p:nvPr/>
        </p:nvSpPr>
        <p:spPr>
          <a:xfrm>
            <a:off x="914400" y="2103120"/>
            <a:ext cx="2743200" cy="640080"/>
          </a:xfrm>
          <a:prstGeom prst="rect">
            <a:avLst/>
          </a:prstGeom>
          <a:noFill/>
          <a:ln/>
        </p:spPr>
        <p:txBody>
          <a:bodyPr wrap="square"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Latency</a:t>
            </a:r>
            <a:endParaRPr lang="en-US" sz="1100" dirty="0"/>
          </a:p>
        </p:txBody>
      </p:sp>
      <p:sp>
        <p:nvSpPr>
          <p:cNvPr id="12" name="Text 10"/>
          <p:cNvSpPr/>
          <p:nvPr/>
        </p:nvSpPr>
        <p:spPr>
          <a:xfrm>
            <a:off x="3657600" y="2103120"/>
            <a:ext cx="3657600" cy="640080"/>
          </a:xfrm>
          <a:prstGeom prst="rect">
            <a:avLst/>
          </a:prstGeom>
          <a:noFill/>
          <a:ln/>
        </p:spPr>
        <p:txBody>
          <a:bodyPr wrap="square" rtlCol="0" anchor="ctr"/>
          <a:lstStyle/>
          <a:p>
            <a:pPr marL="0" indent="0" algn="l">
              <a:buNone/>
            </a:pPr>
            <a:r>
              <a:rPr lang="en-US" sz="1100" dirty="0">
                <a:solidFill>
                  <a:srgbClr val="C0C0D0"/>
                </a:solidFill>
                <a:latin typeface="Segoe UI Light" pitchFamily="34" charset="0"/>
                <a:ea typeface="Segoe UI Light" pitchFamily="34" charset="-122"/>
                <a:cs typeface="Segoe UI Light" pitchFamily="34" charset="-120"/>
              </a:rPr>
              <a:t>Minutes to hours</a:t>
            </a:r>
            <a:endParaRPr lang="en-US" sz="1100" dirty="0"/>
          </a:p>
        </p:txBody>
      </p:sp>
      <p:sp>
        <p:nvSpPr>
          <p:cNvPr id="13" name="Text 11"/>
          <p:cNvSpPr/>
          <p:nvPr/>
        </p:nvSpPr>
        <p:spPr>
          <a:xfrm>
            <a:off x="7315200" y="2103120"/>
            <a:ext cx="4114800" cy="640080"/>
          </a:xfrm>
          <a:prstGeom prst="rect">
            <a:avLst/>
          </a:prstGeom>
          <a:noFill/>
          <a:ln/>
        </p:spPr>
        <p:txBody>
          <a:bodyPr wrap="square" rtlCol="0" anchor="ctr"/>
          <a:lstStyle/>
          <a:p>
            <a:pPr marL="0" indent="0" algn="l">
              <a:buNone/>
            </a:pPr>
            <a:r>
              <a:rPr lang="en-US" sz="1100" dirty="0">
                <a:solidFill>
                  <a:srgbClr val="7AB648"/>
                </a:solidFill>
                <a:latin typeface="Segoe UI" pitchFamily="34" charset="0"/>
                <a:ea typeface="Segoe UI" pitchFamily="34" charset="-122"/>
                <a:cs typeface="Segoe UI" pitchFamily="34" charset="-120"/>
              </a:rPr>
              <a:t>✅ Seconds to minutes</a:t>
            </a:r>
            <a:endParaRPr lang="en-US" sz="1100" dirty="0"/>
          </a:p>
        </p:txBody>
      </p:sp>
      <p:sp>
        <p:nvSpPr>
          <p:cNvPr id="14" name="Shape 12"/>
          <p:cNvSpPr/>
          <p:nvPr/>
        </p:nvSpPr>
        <p:spPr>
          <a:xfrm>
            <a:off x="731520" y="2743200"/>
            <a:ext cx="10698480" cy="640080"/>
          </a:xfrm>
          <a:prstGeom prst="rect">
            <a:avLst/>
          </a:prstGeom>
          <a:solidFill>
            <a:srgbClr val="0A0E3A"/>
          </a:solidFill>
          <a:ln/>
        </p:spPr>
        <p:txBody>
          <a:bodyPr/>
          <a:lstStyle/>
          <a:p>
            <a:endParaRPr lang="en-US"/>
          </a:p>
        </p:txBody>
      </p:sp>
      <p:sp>
        <p:nvSpPr>
          <p:cNvPr id="15" name="Text 13"/>
          <p:cNvSpPr/>
          <p:nvPr/>
        </p:nvSpPr>
        <p:spPr>
          <a:xfrm>
            <a:off x="914400" y="2743200"/>
            <a:ext cx="2743200" cy="640080"/>
          </a:xfrm>
          <a:prstGeom prst="rect">
            <a:avLst/>
          </a:prstGeom>
          <a:noFill/>
          <a:ln/>
        </p:spPr>
        <p:txBody>
          <a:bodyPr wrap="square"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Query Layer</a:t>
            </a:r>
            <a:endParaRPr lang="en-US" sz="1100" dirty="0"/>
          </a:p>
        </p:txBody>
      </p:sp>
      <p:sp>
        <p:nvSpPr>
          <p:cNvPr id="16" name="Text 14"/>
          <p:cNvSpPr/>
          <p:nvPr/>
        </p:nvSpPr>
        <p:spPr>
          <a:xfrm>
            <a:off x="3657600" y="2743200"/>
            <a:ext cx="3657600" cy="640080"/>
          </a:xfrm>
          <a:prstGeom prst="rect">
            <a:avLst/>
          </a:prstGeom>
          <a:noFill/>
          <a:ln/>
        </p:spPr>
        <p:txBody>
          <a:bodyPr wrap="square" rtlCol="0" anchor="ctr"/>
          <a:lstStyle/>
          <a:p>
            <a:pPr marL="0" indent="0" algn="l">
              <a:buNone/>
            </a:pPr>
            <a:r>
              <a:rPr lang="en-US" sz="1100" dirty="0">
                <a:solidFill>
                  <a:srgbClr val="C0C0D0"/>
                </a:solidFill>
                <a:latin typeface="Segoe UI Light" pitchFamily="34" charset="0"/>
                <a:ea typeface="Segoe UI Light" pitchFamily="34" charset="-122"/>
                <a:cs typeface="Segoe UI Light" pitchFamily="34" charset="-120"/>
              </a:rPr>
              <a:t>Athena / Redshift (managed)</a:t>
            </a:r>
            <a:endParaRPr lang="en-US" sz="1100" dirty="0"/>
          </a:p>
        </p:txBody>
      </p:sp>
      <p:sp>
        <p:nvSpPr>
          <p:cNvPr id="17" name="Text 15"/>
          <p:cNvSpPr/>
          <p:nvPr/>
        </p:nvSpPr>
        <p:spPr>
          <a:xfrm>
            <a:off x="7315200" y="2743200"/>
            <a:ext cx="4114800" cy="640080"/>
          </a:xfrm>
          <a:prstGeom prst="rect">
            <a:avLst/>
          </a:prstGeom>
          <a:noFill/>
          <a:ln/>
        </p:spPr>
        <p:txBody>
          <a:bodyPr wrap="square" rtlCol="0" anchor="ctr"/>
          <a:lstStyle/>
          <a:p>
            <a:pPr marL="0" indent="0" algn="l">
              <a:buNone/>
            </a:pPr>
            <a:r>
              <a:rPr lang="en-US" sz="1100" dirty="0">
                <a:solidFill>
                  <a:srgbClr val="7AB648"/>
                </a:solidFill>
                <a:latin typeface="Segoe UI" pitchFamily="34" charset="0"/>
                <a:ea typeface="Segoe UI" pitchFamily="34" charset="-122"/>
                <a:cs typeface="Segoe UI" pitchFamily="34" charset="-120"/>
              </a:rPr>
              <a:t>✅ Direct Query (no middleman)</a:t>
            </a:r>
            <a:endParaRPr lang="en-US" sz="1100" dirty="0"/>
          </a:p>
        </p:txBody>
      </p:sp>
      <p:sp>
        <p:nvSpPr>
          <p:cNvPr id="18" name="Shape 16"/>
          <p:cNvSpPr/>
          <p:nvPr/>
        </p:nvSpPr>
        <p:spPr>
          <a:xfrm>
            <a:off x="731520" y="3383280"/>
            <a:ext cx="10698480" cy="640080"/>
          </a:xfrm>
          <a:prstGeom prst="rect">
            <a:avLst/>
          </a:prstGeom>
          <a:solidFill>
            <a:srgbClr val="0D1147"/>
          </a:solidFill>
          <a:ln/>
        </p:spPr>
        <p:txBody>
          <a:bodyPr/>
          <a:lstStyle/>
          <a:p>
            <a:endParaRPr lang="en-US"/>
          </a:p>
        </p:txBody>
      </p:sp>
      <p:sp>
        <p:nvSpPr>
          <p:cNvPr id="19" name="Text 17"/>
          <p:cNvSpPr/>
          <p:nvPr/>
        </p:nvSpPr>
        <p:spPr>
          <a:xfrm>
            <a:off x="914400" y="3383280"/>
            <a:ext cx="2743200" cy="640080"/>
          </a:xfrm>
          <a:prstGeom prst="rect">
            <a:avLst/>
          </a:prstGeom>
          <a:noFill/>
          <a:ln/>
        </p:spPr>
        <p:txBody>
          <a:bodyPr wrap="square"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Infrastructure</a:t>
            </a:r>
            <a:endParaRPr lang="en-US" sz="1100" dirty="0"/>
          </a:p>
        </p:txBody>
      </p:sp>
      <p:sp>
        <p:nvSpPr>
          <p:cNvPr id="20" name="Text 18"/>
          <p:cNvSpPr/>
          <p:nvPr/>
        </p:nvSpPr>
        <p:spPr>
          <a:xfrm>
            <a:off x="3657600" y="3383280"/>
            <a:ext cx="3657600" cy="640080"/>
          </a:xfrm>
          <a:prstGeom prst="rect">
            <a:avLst/>
          </a:prstGeom>
          <a:noFill/>
          <a:ln/>
        </p:spPr>
        <p:txBody>
          <a:bodyPr wrap="square" rtlCol="0" anchor="ctr"/>
          <a:lstStyle/>
          <a:p>
            <a:pPr marL="0" indent="0" algn="l">
              <a:buNone/>
            </a:pPr>
            <a:r>
              <a:rPr lang="en-US" sz="1100" dirty="0">
                <a:solidFill>
                  <a:srgbClr val="C0C0D0"/>
                </a:solidFill>
                <a:latin typeface="Segoe UI Light" pitchFamily="34" charset="0"/>
                <a:ea typeface="Segoe UI Light" pitchFamily="34" charset="-122"/>
                <a:cs typeface="Segoe UI Light" pitchFamily="34" charset="-120"/>
              </a:rPr>
              <a:t>Clusters + ETL jobs</a:t>
            </a:r>
            <a:endParaRPr lang="en-US" sz="1100" dirty="0"/>
          </a:p>
        </p:txBody>
      </p:sp>
      <p:sp>
        <p:nvSpPr>
          <p:cNvPr id="21" name="Text 19"/>
          <p:cNvSpPr/>
          <p:nvPr/>
        </p:nvSpPr>
        <p:spPr>
          <a:xfrm>
            <a:off x="7315200" y="3383280"/>
            <a:ext cx="4114800" cy="640080"/>
          </a:xfrm>
          <a:prstGeom prst="rect">
            <a:avLst/>
          </a:prstGeom>
          <a:noFill/>
          <a:ln/>
        </p:spPr>
        <p:txBody>
          <a:bodyPr wrap="square" rtlCol="0" anchor="ctr"/>
          <a:lstStyle/>
          <a:p>
            <a:pPr marL="0" indent="0" algn="l">
              <a:buNone/>
            </a:pPr>
            <a:r>
              <a:rPr lang="en-US" sz="1100" dirty="0">
                <a:solidFill>
                  <a:srgbClr val="7AB648"/>
                </a:solidFill>
                <a:latin typeface="Segoe UI" pitchFamily="34" charset="0"/>
                <a:ea typeface="Segoe UI" pitchFamily="34" charset="-122"/>
                <a:cs typeface="Segoe UI" pitchFamily="34" charset="-120"/>
              </a:rPr>
              <a:t>✅ Fully serverless</a:t>
            </a:r>
            <a:endParaRPr lang="en-US" sz="1100" dirty="0"/>
          </a:p>
        </p:txBody>
      </p:sp>
      <p:sp>
        <p:nvSpPr>
          <p:cNvPr id="22" name="Shape 20"/>
          <p:cNvSpPr/>
          <p:nvPr/>
        </p:nvSpPr>
        <p:spPr>
          <a:xfrm>
            <a:off x="731520" y="4023360"/>
            <a:ext cx="10698480" cy="640080"/>
          </a:xfrm>
          <a:prstGeom prst="rect">
            <a:avLst/>
          </a:prstGeom>
          <a:solidFill>
            <a:srgbClr val="0A0E3A"/>
          </a:solidFill>
          <a:ln/>
        </p:spPr>
        <p:txBody>
          <a:bodyPr/>
          <a:lstStyle/>
          <a:p>
            <a:endParaRPr lang="en-US"/>
          </a:p>
        </p:txBody>
      </p:sp>
      <p:sp>
        <p:nvSpPr>
          <p:cNvPr id="23" name="Text 21"/>
          <p:cNvSpPr/>
          <p:nvPr/>
        </p:nvSpPr>
        <p:spPr>
          <a:xfrm>
            <a:off x="914400" y="4023360"/>
            <a:ext cx="2743200" cy="640080"/>
          </a:xfrm>
          <a:prstGeom prst="rect">
            <a:avLst/>
          </a:prstGeom>
          <a:noFill/>
          <a:ln/>
        </p:spPr>
        <p:txBody>
          <a:bodyPr wrap="square"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Maintenance</a:t>
            </a:r>
            <a:endParaRPr lang="en-US" sz="1100" dirty="0"/>
          </a:p>
        </p:txBody>
      </p:sp>
      <p:sp>
        <p:nvSpPr>
          <p:cNvPr id="24" name="Text 22"/>
          <p:cNvSpPr/>
          <p:nvPr/>
        </p:nvSpPr>
        <p:spPr>
          <a:xfrm>
            <a:off x="3657600" y="4023360"/>
            <a:ext cx="3657600" cy="640080"/>
          </a:xfrm>
          <a:prstGeom prst="rect">
            <a:avLst/>
          </a:prstGeom>
          <a:noFill/>
          <a:ln/>
        </p:spPr>
        <p:txBody>
          <a:bodyPr wrap="square" rtlCol="0" anchor="ctr"/>
          <a:lstStyle/>
          <a:p>
            <a:pPr marL="0" indent="0" algn="l">
              <a:buNone/>
            </a:pPr>
            <a:r>
              <a:rPr lang="en-US" sz="1100" dirty="0">
                <a:solidFill>
                  <a:srgbClr val="C0C0D0"/>
                </a:solidFill>
                <a:latin typeface="Segoe UI Light" pitchFamily="34" charset="0"/>
                <a:ea typeface="Segoe UI Light" pitchFamily="34" charset="-122"/>
                <a:cs typeface="Segoe UI Light" pitchFamily="34" charset="-120"/>
              </a:rPr>
              <a:t>Manual compaction &amp; tuning</a:t>
            </a:r>
            <a:endParaRPr lang="en-US" sz="1100" dirty="0"/>
          </a:p>
        </p:txBody>
      </p:sp>
      <p:sp>
        <p:nvSpPr>
          <p:cNvPr id="25" name="Text 23"/>
          <p:cNvSpPr/>
          <p:nvPr/>
        </p:nvSpPr>
        <p:spPr>
          <a:xfrm>
            <a:off x="7315200" y="4023360"/>
            <a:ext cx="4114800" cy="640080"/>
          </a:xfrm>
          <a:prstGeom prst="rect">
            <a:avLst/>
          </a:prstGeom>
          <a:noFill/>
          <a:ln/>
        </p:spPr>
        <p:txBody>
          <a:bodyPr wrap="square" rtlCol="0" anchor="ctr"/>
          <a:lstStyle/>
          <a:p>
            <a:pPr marL="0" indent="0" algn="l">
              <a:buNone/>
            </a:pPr>
            <a:r>
              <a:rPr lang="en-US" sz="1100" dirty="0">
                <a:solidFill>
                  <a:srgbClr val="7AB648"/>
                </a:solidFill>
                <a:latin typeface="Segoe UI" pitchFamily="34" charset="0"/>
                <a:ea typeface="Segoe UI" pitchFamily="34" charset="-122"/>
                <a:cs typeface="Segoe UI" pitchFamily="34" charset="-120"/>
              </a:rPr>
              <a:t>✅ Automatic optimization</a:t>
            </a:r>
            <a:endParaRPr lang="en-US" sz="1100" dirty="0"/>
          </a:p>
        </p:txBody>
      </p:sp>
      <p:sp>
        <p:nvSpPr>
          <p:cNvPr id="26" name="Shape 24"/>
          <p:cNvSpPr/>
          <p:nvPr/>
        </p:nvSpPr>
        <p:spPr>
          <a:xfrm>
            <a:off x="731520" y="4663440"/>
            <a:ext cx="10698480" cy="640080"/>
          </a:xfrm>
          <a:prstGeom prst="rect">
            <a:avLst/>
          </a:prstGeom>
          <a:solidFill>
            <a:srgbClr val="0D1147"/>
          </a:solidFill>
          <a:ln/>
        </p:spPr>
        <p:txBody>
          <a:bodyPr/>
          <a:lstStyle/>
          <a:p>
            <a:endParaRPr lang="en-US"/>
          </a:p>
        </p:txBody>
      </p:sp>
      <p:sp>
        <p:nvSpPr>
          <p:cNvPr id="27" name="Text 25"/>
          <p:cNvSpPr/>
          <p:nvPr/>
        </p:nvSpPr>
        <p:spPr>
          <a:xfrm>
            <a:off x="914400" y="4663440"/>
            <a:ext cx="2743200" cy="640080"/>
          </a:xfrm>
          <a:prstGeom prst="rect">
            <a:avLst/>
          </a:prstGeom>
          <a:noFill/>
          <a:ln/>
        </p:spPr>
        <p:txBody>
          <a:bodyPr wrap="square"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Cost Model</a:t>
            </a:r>
            <a:endParaRPr lang="en-US" sz="1100" dirty="0"/>
          </a:p>
        </p:txBody>
      </p:sp>
      <p:sp>
        <p:nvSpPr>
          <p:cNvPr id="28" name="Text 26"/>
          <p:cNvSpPr/>
          <p:nvPr/>
        </p:nvSpPr>
        <p:spPr>
          <a:xfrm>
            <a:off x="3657600" y="4663440"/>
            <a:ext cx="3657600" cy="640080"/>
          </a:xfrm>
          <a:prstGeom prst="rect">
            <a:avLst/>
          </a:prstGeom>
          <a:noFill/>
          <a:ln/>
        </p:spPr>
        <p:txBody>
          <a:bodyPr wrap="square" rtlCol="0" anchor="ctr"/>
          <a:lstStyle/>
          <a:p>
            <a:pPr marL="0" indent="0" algn="l">
              <a:buNone/>
            </a:pPr>
            <a:r>
              <a:rPr lang="en-US" sz="1100" dirty="0">
                <a:solidFill>
                  <a:srgbClr val="C0C0D0"/>
                </a:solidFill>
                <a:latin typeface="Segoe UI Light" pitchFamily="34" charset="0"/>
                <a:ea typeface="Segoe UI Light" pitchFamily="34" charset="-122"/>
                <a:cs typeface="Segoe UI Light" pitchFamily="34" charset="-120"/>
              </a:rPr>
              <a:t>Idle clusters + per-query</a:t>
            </a:r>
            <a:endParaRPr lang="en-US" sz="1100" dirty="0"/>
          </a:p>
        </p:txBody>
      </p:sp>
      <p:sp>
        <p:nvSpPr>
          <p:cNvPr id="29" name="Text 27"/>
          <p:cNvSpPr/>
          <p:nvPr/>
        </p:nvSpPr>
        <p:spPr>
          <a:xfrm>
            <a:off x="7315200" y="4663440"/>
            <a:ext cx="4114800" cy="640080"/>
          </a:xfrm>
          <a:prstGeom prst="rect">
            <a:avLst/>
          </a:prstGeom>
          <a:noFill/>
          <a:ln/>
        </p:spPr>
        <p:txBody>
          <a:bodyPr wrap="square" rtlCol="0" anchor="ctr"/>
          <a:lstStyle/>
          <a:p>
            <a:pPr marL="0" indent="0" algn="l">
              <a:buNone/>
            </a:pPr>
            <a:r>
              <a:rPr lang="en-US" sz="1100" dirty="0">
                <a:solidFill>
                  <a:srgbClr val="7AB648"/>
                </a:solidFill>
                <a:latin typeface="Segoe UI" pitchFamily="34" charset="0"/>
                <a:ea typeface="Segoe UI" pitchFamily="34" charset="-122"/>
                <a:cs typeface="Segoe UI" pitchFamily="34" charset="-120"/>
              </a:rPr>
              <a:t>✅ Pure pay-per-use</a:t>
            </a:r>
            <a:endParaRPr lang="en-US" sz="1100" dirty="0"/>
          </a:p>
        </p:txBody>
      </p:sp>
      <p:sp>
        <p:nvSpPr>
          <p:cNvPr id="30" name="Shape 28"/>
          <p:cNvSpPr/>
          <p:nvPr/>
        </p:nvSpPr>
        <p:spPr>
          <a:xfrm>
            <a:off x="731520" y="5303520"/>
            <a:ext cx="10698480" cy="640080"/>
          </a:xfrm>
          <a:prstGeom prst="rect">
            <a:avLst/>
          </a:prstGeom>
          <a:solidFill>
            <a:srgbClr val="0A0E3A"/>
          </a:solidFill>
          <a:ln/>
        </p:spPr>
        <p:txBody>
          <a:bodyPr/>
          <a:lstStyle/>
          <a:p>
            <a:endParaRPr lang="en-US"/>
          </a:p>
        </p:txBody>
      </p:sp>
      <p:sp>
        <p:nvSpPr>
          <p:cNvPr id="31" name="Text 29"/>
          <p:cNvSpPr/>
          <p:nvPr/>
        </p:nvSpPr>
        <p:spPr>
          <a:xfrm>
            <a:off x="914400" y="5303520"/>
            <a:ext cx="2743200" cy="640080"/>
          </a:xfrm>
          <a:prstGeom prst="rect">
            <a:avLst/>
          </a:prstGeom>
          <a:noFill/>
          <a:ln/>
        </p:spPr>
        <p:txBody>
          <a:bodyPr wrap="square"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AI Insights</a:t>
            </a:r>
            <a:endParaRPr lang="en-US" sz="1100" dirty="0"/>
          </a:p>
        </p:txBody>
      </p:sp>
      <p:sp>
        <p:nvSpPr>
          <p:cNvPr id="32" name="Text 30"/>
          <p:cNvSpPr/>
          <p:nvPr/>
        </p:nvSpPr>
        <p:spPr>
          <a:xfrm>
            <a:off x="3657600" y="5303520"/>
            <a:ext cx="3657600" cy="640080"/>
          </a:xfrm>
          <a:prstGeom prst="rect">
            <a:avLst/>
          </a:prstGeom>
          <a:noFill/>
          <a:ln/>
        </p:spPr>
        <p:txBody>
          <a:bodyPr wrap="square" rtlCol="0" anchor="ctr"/>
          <a:lstStyle/>
          <a:p>
            <a:pPr marL="0" indent="0" algn="l">
              <a:buNone/>
            </a:pPr>
            <a:r>
              <a:rPr lang="en-US" sz="1100" dirty="0">
                <a:solidFill>
                  <a:srgbClr val="C0C0D0"/>
                </a:solidFill>
                <a:latin typeface="Segoe UI Light" pitchFamily="34" charset="0"/>
                <a:ea typeface="Segoe UI Light" pitchFamily="34" charset="-122"/>
                <a:cs typeface="Segoe UI Light" pitchFamily="34" charset="-120"/>
              </a:rPr>
              <a:t>Custom ML pipeline</a:t>
            </a:r>
            <a:endParaRPr lang="en-US" sz="1100" dirty="0"/>
          </a:p>
        </p:txBody>
      </p:sp>
      <p:sp>
        <p:nvSpPr>
          <p:cNvPr id="33" name="Text 31"/>
          <p:cNvSpPr/>
          <p:nvPr/>
        </p:nvSpPr>
        <p:spPr>
          <a:xfrm>
            <a:off x="7315200" y="5303520"/>
            <a:ext cx="4114800" cy="640080"/>
          </a:xfrm>
          <a:prstGeom prst="rect">
            <a:avLst/>
          </a:prstGeom>
          <a:noFill/>
          <a:ln/>
        </p:spPr>
        <p:txBody>
          <a:bodyPr wrap="square" rtlCol="0" anchor="ctr"/>
          <a:lstStyle/>
          <a:p>
            <a:pPr marL="0" indent="0" algn="l">
              <a:buNone/>
            </a:pPr>
            <a:r>
              <a:rPr lang="en-US" sz="1100" dirty="0">
                <a:solidFill>
                  <a:srgbClr val="7AB648"/>
                </a:solidFill>
                <a:latin typeface="Segoe UI" pitchFamily="34" charset="0"/>
                <a:ea typeface="Segoe UI" pitchFamily="34" charset="-122"/>
                <a:cs typeface="Segoe UI" pitchFamily="34" charset="-120"/>
              </a:rPr>
              <a:t>✅ Built-in NL chat agent</a:t>
            </a:r>
            <a:endParaRPr lang="en-US" sz="1100" dirty="0"/>
          </a:p>
        </p:txBody>
      </p:sp>
      <p:sp>
        <p:nvSpPr>
          <p:cNvPr id="34" name="Shape 32"/>
          <p:cNvSpPr/>
          <p:nvPr/>
        </p:nvSpPr>
        <p:spPr>
          <a:xfrm>
            <a:off x="731520" y="5852160"/>
            <a:ext cx="10698480" cy="548640"/>
          </a:xfrm>
          <a:prstGeom prst="roundRect">
            <a:avLst>
              <a:gd name="adj" fmla="val 5000"/>
            </a:avLst>
          </a:prstGeom>
          <a:solidFill>
            <a:srgbClr val="0D1147"/>
          </a:solidFill>
          <a:ln w="10160">
            <a:solidFill>
              <a:srgbClr val="7AB648"/>
            </a:solidFill>
            <a:prstDash val="solid"/>
          </a:ln>
        </p:spPr>
        <p:txBody>
          <a:bodyPr/>
          <a:lstStyle/>
          <a:p>
            <a:endParaRPr lang="en-US"/>
          </a:p>
        </p:txBody>
      </p:sp>
      <p:sp>
        <p:nvSpPr>
          <p:cNvPr id="35" name="Text 33"/>
          <p:cNvSpPr/>
          <p:nvPr/>
        </p:nvSpPr>
        <p:spPr>
          <a:xfrm>
            <a:off x="914400" y="5897880"/>
            <a:ext cx="10332720" cy="457200"/>
          </a:xfrm>
          <a:prstGeom prst="rect">
            <a:avLst/>
          </a:prstGeom>
          <a:noFill/>
          <a:ln/>
        </p:spPr>
        <p:txBody>
          <a:bodyPr wrap="square" rtlCol="0" anchor="ctr"/>
          <a:lstStyle/>
          <a:p>
            <a:pPr marL="0" indent="0" algn="ctr">
              <a:buNone/>
            </a:pPr>
            <a:r>
              <a:rPr lang="en-US" sz="1200" dirty="0">
                <a:solidFill>
                  <a:srgbClr val="FFFFFF"/>
                </a:solidFill>
                <a:latin typeface="Segoe UI" pitchFamily="34" charset="0"/>
                <a:ea typeface="Segoe UI" pitchFamily="34" charset="-122"/>
                <a:cs typeface="Segoe UI" pitchFamily="34" charset="-120"/>
              </a:rPr>
              <a:t>✅ Net result: Simpler architecture, lower cost, faster insights, zero infrastructure management</a:t>
            </a:r>
            <a:endParaRPr lang="en-US" sz="1200" dirty="0"/>
          </a:p>
        </p:txBody>
      </p:sp>
      <p:sp>
        <p:nvSpPr>
          <p:cNvPr id="36" name="Text 34"/>
          <p:cNvSpPr/>
          <p:nvPr/>
        </p:nvSpPr>
        <p:spPr>
          <a:xfrm>
            <a:off x="10972800" y="6400800"/>
            <a:ext cx="914400" cy="274320"/>
          </a:xfrm>
          <a:prstGeom prst="rect">
            <a:avLst/>
          </a:prstGeom>
          <a:noFill/>
          <a:ln/>
        </p:spPr>
        <p:txBody>
          <a:bodyPr wrap="square" rtlCol="0" anchor="ctr"/>
          <a:lstStyle/>
          <a:p>
            <a:pPr marL="0" indent="0" algn="r">
              <a:buNone/>
            </a:pPr>
            <a:r>
              <a:rPr lang="en-US" sz="900" dirty="0">
                <a:solidFill>
                  <a:srgbClr val="666699"/>
                </a:solidFill>
                <a:latin typeface="Segoe UI" pitchFamily="34" charset="0"/>
                <a:ea typeface="Segoe UI" pitchFamily="34" charset="-122"/>
                <a:cs typeface="Segoe U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B2D"/>
        </a:solidFill>
        <a:effectLst/>
      </p:bgPr>
    </p:bg>
    <p:spTree>
      <p:nvGrpSpPr>
        <p:cNvPr id="1" name=""/>
        <p:cNvGrpSpPr/>
        <p:nvPr/>
      </p:nvGrpSpPr>
      <p:grpSpPr>
        <a:xfrm>
          <a:off x="0" y="0"/>
          <a:ext cx="0" cy="0"/>
          <a:chOff x="0" y="0"/>
          <a:chExt cx="0" cy="0"/>
        </a:xfrm>
      </p:grpSpPr>
      <p:sp>
        <p:nvSpPr>
          <p:cNvPr id="2" name="Shape 0"/>
          <p:cNvSpPr/>
          <p:nvPr/>
        </p:nvSpPr>
        <p:spPr>
          <a:xfrm>
            <a:off x="7772400" y="-1828800"/>
            <a:ext cx="6400800" cy="6400800"/>
          </a:xfrm>
          <a:prstGeom prst="ellipse">
            <a:avLst/>
          </a:prstGeom>
          <a:solidFill>
            <a:srgbClr val="6B0AC9"/>
          </a:solidFill>
          <a:ln/>
        </p:spPr>
        <p:txBody>
          <a:bodyPr/>
          <a:lstStyle/>
          <a:p>
            <a:endParaRPr lang="en-US"/>
          </a:p>
        </p:txBody>
      </p:sp>
      <p:sp>
        <p:nvSpPr>
          <p:cNvPr id="3" name="Shape 1"/>
          <p:cNvSpPr/>
          <p:nvPr/>
        </p:nvSpPr>
        <p:spPr>
          <a:xfrm>
            <a:off x="8686800" y="-1371600"/>
            <a:ext cx="4572000" cy="4572000"/>
          </a:xfrm>
          <a:prstGeom prst="ellipse">
            <a:avLst/>
          </a:prstGeom>
          <a:solidFill>
            <a:srgbClr val="4A07A0"/>
          </a:solidFill>
          <a:ln/>
        </p:spPr>
        <p:txBody>
          <a:bodyPr/>
          <a:lstStyle/>
          <a:p>
            <a:endParaRPr lang="en-US"/>
          </a:p>
        </p:txBody>
      </p:sp>
      <p:sp>
        <p:nvSpPr>
          <p:cNvPr id="4" name="Text 2"/>
          <p:cNvSpPr/>
          <p:nvPr/>
        </p:nvSpPr>
        <p:spPr>
          <a:xfrm>
            <a:off x="731520" y="365760"/>
            <a:ext cx="7315200" cy="548640"/>
          </a:xfrm>
          <a:prstGeom prst="rect">
            <a:avLst/>
          </a:prstGeom>
          <a:noFill/>
          <a:ln/>
        </p:spPr>
        <p:txBody>
          <a:bodyPr wrap="square" rtlCol="0" anchor="ctr"/>
          <a:lstStyle/>
          <a:p>
            <a:pPr marL="0" indent="0" algn="l">
              <a:buNone/>
            </a:pPr>
            <a:r>
              <a:rPr lang="en-US" sz="3200" kern="0" spc="200" dirty="0">
                <a:solidFill>
                  <a:srgbClr val="FFFFFF"/>
                </a:solidFill>
                <a:latin typeface="Segoe UI" pitchFamily="34" charset="0"/>
                <a:ea typeface="Segoe UI" pitchFamily="34" charset="-122"/>
                <a:cs typeface="Segoe UI" pitchFamily="34" charset="-120"/>
              </a:rPr>
              <a:t>DEMO FLOW</a:t>
            </a:r>
            <a:endParaRPr lang="en-US" sz="3200" dirty="0"/>
          </a:p>
        </p:txBody>
      </p:sp>
      <p:sp>
        <p:nvSpPr>
          <p:cNvPr id="5" name="Text 3"/>
          <p:cNvSpPr/>
          <p:nvPr/>
        </p:nvSpPr>
        <p:spPr>
          <a:xfrm>
            <a:off x="731520" y="914400"/>
            <a:ext cx="7315200" cy="320040"/>
          </a:xfrm>
          <a:prstGeom prst="rect">
            <a:avLst/>
          </a:prstGeom>
          <a:noFill/>
          <a:ln/>
        </p:spPr>
        <p:txBody>
          <a:bodyPr wrap="square" rtlCol="0" anchor="ctr"/>
          <a:lstStyle/>
          <a:p>
            <a:pPr marL="0" indent="0" algn="l">
              <a:buNone/>
            </a:pPr>
            <a:r>
              <a:rPr lang="en-US" sz="1400" dirty="0">
                <a:solidFill>
                  <a:srgbClr val="B8B8D0"/>
                </a:solidFill>
                <a:latin typeface="Segoe UI Light" pitchFamily="34" charset="0"/>
                <a:ea typeface="Segoe UI Light" pitchFamily="34" charset="-122"/>
                <a:cs typeface="Segoe UI Light" pitchFamily="34" charset="-120"/>
              </a:rPr>
              <a:t>End-to-end demonstration in 4 steps</a:t>
            </a:r>
            <a:endParaRPr lang="en-US" sz="1400" dirty="0"/>
          </a:p>
        </p:txBody>
      </p:sp>
      <p:sp>
        <p:nvSpPr>
          <p:cNvPr id="6" name="Shape 4"/>
          <p:cNvSpPr/>
          <p:nvPr/>
        </p:nvSpPr>
        <p:spPr>
          <a:xfrm>
            <a:off x="731520" y="1554480"/>
            <a:ext cx="2560320" cy="2560320"/>
          </a:xfrm>
          <a:prstGeom prst="roundRect">
            <a:avLst>
              <a:gd name="adj" fmla="val 2857"/>
            </a:avLst>
          </a:prstGeom>
          <a:solidFill>
            <a:srgbClr val="0D1147"/>
          </a:solidFill>
          <a:ln w="15240">
            <a:solidFill>
              <a:srgbClr val="FFFFFF"/>
            </a:solidFill>
            <a:prstDash val="solid"/>
          </a:ln>
        </p:spPr>
        <p:txBody>
          <a:bodyPr/>
          <a:lstStyle/>
          <a:p>
            <a:endParaRPr lang="en-US"/>
          </a:p>
        </p:txBody>
      </p:sp>
      <p:sp>
        <p:nvSpPr>
          <p:cNvPr id="7" name="Shape 5"/>
          <p:cNvSpPr/>
          <p:nvPr/>
        </p:nvSpPr>
        <p:spPr>
          <a:xfrm>
            <a:off x="1645920" y="1828800"/>
            <a:ext cx="640080" cy="640080"/>
          </a:xfrm>
          <a:prstGeom prst="ellipse">
            <a:avLst/>
          </a:prstGeom>
          <a:solidFill>
            <a:srgbClr val="FFFFFF"/>
          </a:solidFill>
          <a:ln/>
        </p:spPr>
        <p:txBody>
          <a:bodyPr/>
          <a:lstStyle/>
          <a:p>
            <a:endParaRPr lang="en-US"/>
          </a:p>
        </p:txBody>
      </p:sp>
      <p:sp>
        <p:nvSpPr>
          <p:cNvPr id="8" name="Text 6"/>
          <p:cNvSpPr/>
          <p:nvPr/>
        </p:nvSpPr>
        <p:spPr>
          <a:xfrm>
            <a:off x="1645920" y="182880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9" name="Text 7"/>
          <p:cNvSpPr/>
          <p:nvPr/>
        </p:nvSpPr>
        <p:spPr>
          <a:xfrm>
            <a:off x="914400" y="2651760"/>
            <a:ext cx="2194560" cy="41148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Simulate</a:t>
            </a:r>
            <a:endParaRPr lang="en-US" sz="1600" dirty="0"/>
          </a:p>
        </p:txBody>
      </p:sp>
      <p:sp>
        <p:nvSpPr>
          <p:cNvPr id="10" name="Text 8"/>
          <p:cNvSpPr/>
          <p:nvPr/>
        </p:nvSpPr>
        <p:spPr>
          <a:xfrm>
            <a:off x="914400" y="3108960"/>
            <a:ext cx="2194560" cy="822960"/>
          </a:xfrm>
          <a:prstGeom prst="rect">
            <a:avLst/>
          </a:prstGeom>
          <a:noFill/>
          <a:ln/>
        </p:spPr>
        <p:txBody>
          <a:bodyPr wrap="square" rtlCol="0" anchor="ctr"/>
          <a:lstStyle/>
          <a:p>
            <a:pPr marL="0" indent="0" algn="ctr">
              <a:buNone/>
            </a:pPr>
            <a:r>
              <a:rPr lang="en-US" sz="1100" dirty="0">
                <a:solidFill>
                  <a:srgbClr val="C8C8E0"/>
                </a:solidFill>
                <a:latin typeface="Segoe UI Light" pitchFamily="34" charset="0"/>
                <a:ea typeface="Segoe UI Light" pitchFamily="34" charset="-122"/>
                <a:cs typeface="Segoe UI Light" pitchFamily="34" charset="-120"/>
              </a:rPr>
              <a:t>IoT device publishes</a:t>
            </a:r>
            <a:endParaRPr lang="en-US" sz="1100" dirty="0"/>
          </a:p>
          <a:p>
            <a:pPr marL="0" indent="0" algn="ctr">
              <a:buNone/>
            </a:pPr>
            <a:r>
              <a:rPr lang="en-US" sz="1100" dirty="0">
                <a:solidFill>
                  <a:srgbClr val="C8C8E0"/>
                </a:solidFill>
                <a:latin typeface="Segoe UI Light" pitchFamily="34" charset="0"/>
                <a:ea typeface="Segoe UI Light" pitchFamily="34" charset="-122"/>
                <a:cs typeface="Segoe UI Light" pitchFamily="34" charset="-120"/>
              </a:rPr>
              <a:t>telemetry via MQTT</a:t>
            </a:r>
            <a:endParaRPr lang="en-US" sz="1100" dirty="0"/>
          </a:p>
        </p:txBody>
      </p:sp>
      <p:sp>
        <p:nvSpPr>
          <p:cNvPr id="11" name="Text 9"/>
          <p:cNvSpPr/>
          <p:nvPr/>
        </p:nvSpPr>
        <p:spPr>
          <a:xfrm>
            <a:off x="3291840" y="2651760"/>
            <a:ext cx="274320" cy="365760"/>
          </a:xfrm>
          <a:prstGeom prst="rect">
            <a:avLst/>
          </a:prstGeom>
          <a:noFill/>
          <a:ln/>
        </p:spPr>
        <p:txBody>
          <a:bodyPr wrap="square" rtlCol="0" anchor="ctr"/>
          <a:lstStyle/>
          <a:p>
            <a:pPr marL="0" indent="0" algn="ctr">
              <a:buNone/>
            </a:pPr>
            <a:r>
              <a:rPr lang="en-US" sz="1200" dirty="0">
                <a:solidFill>
                  <a:srgbClr val="FFFFFF">
                    <a:alpha val="60000"/>
                  </a:srgbClr>
                </a:solidFill>
              </a:rPr>
              <a:t>▶</a:t>
            </a:r>
            <a:endParaRPr lang="en-US" sz="1200" dirty="0"/>
          </a:p>
        </p:txBody>
      </p:sp>
      <p:sp>
        <p:nvSpPr>
          <p:cNvPr id="12" name="Shape 10"/>
          <p:cNvSpPr/>
          <p:nvPr/>
        </p:nvSpPr>
        <p:spPr>
          <a:xfrm>
            <a:off x="3566160" y="1554480"/>
            <a:ext cx="2560320" cy="2560320"/>
          </a:xfrm>
          <a:prstGeom prst="roundRect">
            <a:avLst>
              <a:gd name="adj" fmla="val 2857"/>
            </a:avLst>
          </a:prstGeom>
          <a:solidFill>
            <a:srgbClr val="0D1147"/>
          </a:solidFill>
          <a:ln w="15240">
            <a:solidFill>
              <a:srgbClr val="7B5EA7"/>
            </a:solidFill>
            <a:prstDash val="solid"/>
          </a:ln>
        </p:spPr>
        <p:txBody>
          <a:bodyPr/>
          <a:lstStyle/>
          <a:p>
            <a:endParaRPr lang="en-US"/>
          </a:p>
        </p:txBody>
      </p:sp>
      <p:sp>
        <p:nvSpPr>
          <p:cNvPr id="13" name="Shape 11"/>
          <p:cNvSpPr/>
          <p:nvPr/>
        </p:nvSpPr>
        <p:spPr>
          <a:xfrm>
            <a:off x="4480560" y="1828800"/>
            <a:ext cx="640080" cy="640080"/>
          </a:xfrm>
          <a:prstGeom prst="ellipse">
            <a:avLst/>
          </a:prstGeom>
          <a:solidFill>
            <a:srgbClr val="7B5EA7"/>
          </a:solidFill>
          <a:ln/>
        </p:spPr>
        <p:txBody>
          <a:bodyPr/>
          <a:lstStyle/>
          <a:p>
            <a:endParaRPr lang="en-US"/>
          </a:p>
        </p:txBody>
      </p:sp>
      <p:sp>
        <p:nvSpPr>
          <p:cNvPr id="14" name="Text 12"/>
          <p:cNvSpPr/>
          <p:nvPr/>
        </p:nvSpPr>
        <p:spPr>
          <a:xfrm>
            <a:off x="4480560" y="182880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5" name="Text 13"/>
          <p:cNvSpPr/>
          <p:nvPr/>
        </p:nvSpPr>
        <p:spPr>
          <a:xfrm>
            <a:off x="3749040" y="2651760"/>
            <a:ext cx="2194560" cy="41148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Ingest</a:t>
            </a:r>
            <a:endParaRPr lang="en-US" sz="1600" dirty="0"/>
          </a:p>
        </p:txBody>
      </p:sp>
      <p:sp>
        <p:nvSpPr>
          <p:cNvPr id="16" name="Text 14"/>
          <p:cNvSpPr/>
          <p:nvPr/>
        </p:nvSpPr>
        <p:spPr>
          <a:xfrm>
            <a:off x="3749040" y="3108960"/>
            <a:ext cx="2194560" cy="822960"/>
          </a:xfrm>
          <a:prstGeom prst="rect">
            <a:avLst/>
          </a:prstGeom>
          <a:noFill/>
          <a:ln/>
        </p:spPr>
        <p:txBody>
          <a:bodyPr wrap="square" rtlCol="0" anchor="ctr"/>
          <a:lstStyle/>
          <a:p>
            <a:pPr marL="0" indent="0" algn="ctr">
              <a:buNone/>
            </a:pPr>
            <a:r>
              <a:rPr lang="en-US" sz="1100" dirty="0">
                <a:solidFill>
                  <a:srgbClr val="C8C8E0"/>
                </a:solidFill>
                <a:latin typeface="Segoe UI Light" pitchFamily="34" charset="0"/>
                <a:ea typeface="Segoe UI Light" pitchFamily="34" charset="-122"/>
                <a:cs typeface="Segoe UI Light" pitchFamily="34" charset="-120"/>
              </a:rPr>
              <a:t>Data flows through</a:t>
            </a:r>
            <a:endParaRPr lang="en-US" sz="1100" dirty="0"/>
          </a:p>
          <a:p>
            <a:pPr marL="0" indent="0" algn="ctr">
              <a:buNone/>
            </a:pPr>
            <a:r>
              <a:rPr lang="en-US" sz="1100" dirty="0">
                <a:solidFill>
                  <a:srgbClr val="C8C8E0"/>
                </a:solidFill>
                <a:latin typeface="Segoe UI Light" pitchFamily="34" charset="0"/>
                <a:ea typeface="Segoe UI Light" pitchFamily="34" charset="-122"/>
                <a:cs typeface="Segoe UI Light" pitchFamily="34" charset="-120"/>
              </a:rPr>
              <a:t>Kinesis → Firehose</a:t>
            </a:r>
            <a:endParaRPr lang="en-US" sz="1100" dirty="0"/>
          </a:p>
        </p:txBody>
      </p:sp>
      <p:sp>
        <p:nvSpPr>
          <p:cNvPr id="17" name="Text 15"/>
          <p:cNvSpPr/>
          <p:nvPr/>
        </p:nvSpPr>
        <p:spPr>
          <a:xfrm>
            <a:off x="6126480" y="2651760"/>
            <a:ext cx="274320" cy="365760"/>
          </a:xfrm>
          <a:prstGeom prst="rect">
            <a:avLst/>
          </a:prstGeom>
          <a:noFill/>
          <a:ln/>
        </p:spPr>
        <p:txBody>
          <a:bodyPr wrap="square" rtlCol="0" anchor="ctr"/>
          <a:lstStyle/>
          <a:p>
            <a:pPr marL="0" indent="0" algn="ctr">
              <a:buNone/>
            </a:pPr>
            <a:r>
              <a:rPr lang="en-US" sz="1200" dirty="0">
                <a:solidFill>
                  <a:srgbClr val="FFFFFF">
                    <a:alpha val="60000"/>
                  </a:srgbClr>
                </a:solidFill>
              </a:rPr>
              <a:t>▶</a:t>
            </a:r>
            <a:endParaRPr lang="en-US" sz="1200" dirty="0"/>
          </a:p>
        </p:txBody>
      </p:sp>
      <p:sp>
        <p:nvSpPr>
          <p:cNvPr id="18" name="Shape 16"/>
          <p:cNvSpPr/>
          <p:nvPr/>
        </p:nvSpPr>
        <p:spPr>
          <a:xfrm>
            <a:off x="6400800" y="1554480"/>
            <a:ext cx="2560320" cy="2560320"/>
          </a:xfrm>
          <a:prstGeom prst="roundRect">
            <a:avLst>
              <a:gd name="adj" fmla="val 2857"/>
            </a:avLst>
          </a:prstGeom>
          <a:solidFill>
            <a:srgbClr val="0D1147"/>
          </a:solidFill>
          <a:ln w="15240">
            <a:solidFill>
              <a:srgbClr val="7AB648"/>
            </a:solidFill>
            <a:prstDash val="solid"/>
          </a:ln>
        </p:spPr>
        <p:txBody>
          <a:bodyPr/>
          <a:lstStyle/>
          <a:p>
            <a:endParaRPr lang="en-US"/>
          </a:p>
        </p:txBody>
      </p:sp>
      <p:sp>
        <p:nvSpPr>
          <p:cNvPr id="19" name="Shape 17"/>
          <p:cNvSpPr/>
          <p:nvPr/>
        </p:nvSpPr>
        <p:spPr>
          <a:xfrm>
            <a:off x="7315200" y="1828800"/>
            <a:ext cx="640080" cy="640080"/>
          </a:xfrm>
          <a:prstGeom prst="ellipse">
            <a:avLst/>
          </a:prstGeom>
          <a:solidFill>
            <a:srgbClr val="7AB648"/>
          </a:solidFill>
          <a:ln/>
        </p:spPr>
        <p:txBody>
          <a:bodyPr/>
          <a:lstStyle/>
          <a:p>
            <a:endParaRPr lang="en-US"/>
          </a:p>
        </p:txBody>
      </p:sp>
      <p:sp>
        <p:nvSpPr>
          <p:cNvPr id="20" name="Text 18"/>
          <p:cNvSpPr/>
          <p:nvPr/>
        </p:nvSpPr>
        <p:spPr>
          <a:xfrm>
            <a:off x="7315200" y="182880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21" name="Text 19"/>
          <p:cNvSpPr/>
          <p:nvPr/>
        </p:nvSpPr>
        <p:spPr>
          <a:xfrm>
            <a:off x="6583680" y="2651760"/>
            <a:ext cx="2194560" cy="41148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Land</a:t>
            </a:r>
            <a:endParaRPr lang="en-US" sz="1600" dirty="0"/>
          </a:p>
        </p:txBody>
      </p:sp>
      <p:sp>
        <p:nvSpPr>
          <p:cNvPr id="22" name="Text 20"/>
          <p:cNvSpPr/>
          <p:nvPr/>
        </p:nvSpPr>
        <p:spPr>
          <a:xfrm>
            <a:off x="6583680" y="3108960"/>
            <a:ext cx="2194560" cy="822960"/>
          </a:xfrm>
          <a:prstGeom prst="rect">
            <a:avLst/>
          </a:prstGeom>
          <a:noFill/>
          <a:ln/>
        </p:spPr>
        <p:txBody>
          <a:bodyPr wrap="square" rtlCol="0" anchor="ctr"/>
          <a:lstStyle/>
          <a:p>
            <a:pPr marL="0" indent="0" algn="ctr">
              <a:buNone/>
            </a:pPr>
            <a:r>
              <a:rPr lang="en-US" sz="1100" dirty="0">
                <a:solidFill>
                  <a:srgbClr val="C8C8E0"/>
                </a:solidFill>
                <a:latin typeface="Segoe UI Light" pitchFamily="34" charset="0"/>
                <a:ea typeface="Segoe UI Light" pitchFamily="34" charset="-122"/>
                <a:cs typeface="Segoe UI Light" pitchFamily="34" charset="-120"/>
              </a:rPr>
              <a:t>Appears in S3 Tables</a:t>
            </a:r>
            <a:endParaRPr lang="en-US" sz="1100" dirty="0"/>
          </a:p>
          <a:p>
            <a:pPr marL="0" indent="0" algn="ctr">
              <a:buNone/>
            </a:pPr>
            <a:r>
              <a:rPr lang="en-US" sz="1100" dirty="0">
                <a:solidFill>
                  <a:srgbClr val="C8C8E0"/>
                </a:solidFill>
                <a:latin typeface="Segoe UI Light" pitchFamily="34" charset="0"/>
                <a:ea typeface="Segoe UI Light" pitchFamily="34" charset="-122"/>
                <a:cs typeface="Segoe UI Light" pitchFamily="34" charset="-120"/>
              </a:rPr>
              <a:t>as Iceberg records</a:t>
            </a:r>
            <a:endParaRPr lang="en-US" sz="1100" dirty="0"/>
          </a:p>
        </p:txBody>
      </p:sp>
      <p:sp>
        <p:nvSpPr>
          <p:cNvPr id="23" name="Text 21"/>
          <p:cNvSpPr/>
          <p:nvPr/>
        </p:nvSpPr>
        <p:spPr>
          <a:xfrm>
            <a:off x="8961120" y="2651760"/>
            <a:ext cx="274320" cy="365760"/>
          </a:xfrm>
          <a:prstGeom prst="rect">
            <a:avLst/>
          </a:prstGeom>
          <a:noFill/>
          <a:ln/>
        </p:spPr>
        <p:txBody>
          <a:bodyPr wrap="square" rtlCol="0" anchor="ctr"/>
          <a:lstStyle/>
          <a:p>
            <a:pPr marL="0" indent="0" algn="ctr">
              <a:buNone/>
            </a:pPr>
            <a:r>
              <a:rPr lang="en-US" sz="1200" dirty="0">
                <a:solidFill>
                  <a:srgbClr val="FFFFFF">
                    <a:alpha val="60000"/>
                  </a:srgbClr>
                </a:solidFill>
              </a:rPr>
              <a:t>▶</a:t>
            </a:r>
            <a:endParaRPr lang="en-US" sz="1200" dirty="0"/>
          </a:p>
        </p:txBody>
      </p:sp>
      <p:sp>
        <p:nvSpPr>
          <p:cNvPr id="24" name="Shape 22"/>
          <p:cNvSpPr/>
          <p:nvPr/>
        </p:nvSpPr>
        <p:spPr>
          <a:xfrm>
            <a:off x="9235440" y="1554480"/>
            <a:ext cx="2560320" cy="2560320"/>
          </a:xfrm>
          <a:prstGeom prst="roundRect">
            <a:avLst>
              <a:gd name="adj" fmla="val 2857"/>
            </a:avLst>
          </a:prstGeom>
          <a:solidFill>
            <a:srgbClr val="0D1147"/>
          </a:solidFill>
          <a:ln w="15240">
            <a:solidFill>
              <a:srgbClr val="FF2D8A"/>
            </a:solidFill>
            <a:prstDash val="solid"/>
          </a:ln>
        </p:spPr>
        <p:txBody>
          <a:bodyPr/>
          <a:lstStyle/>
          <a:p>
            <a:endParaRPr lang="en-US"/>
          </a:p>
        </p:txBody>
      </p:sp>
      <p:sp>
        <p:nvSpPr>
          <p:cNvPr id="25" name="Shape 23"/>
          <p:cNvSpPr/>
          <p:nvPr/>
        </p:nvSpPr>
        <p:spPr>
          <a:xfrm>
            <a:off x="10149840" y="1828800"/>
            <a:ext cx="640080" cy="640080"/>
          </a:xfrm>
          <a:prstGeom prst="ellipse">
            <a:avLst/>
          </a:prstGeom>
          <a:solidFill>
            <a:srgbClr val="FF2D8A"/>
          </a:solidFill>
          <a:ln/>
        </p:spPr>
        <p:txBody>
          <a:bodyPr/>
          <a:lstStyle/>
          <a:p>
            <a:endParaRPr lang="en-US"/>
          </a:p>
        </p:txBody>
      </p:sp>
      <p:sp>
        <p:nvSpPr>
          <p:cNvPr id="26" name="Text 24"/>
          <p:cNvSpPr/>
          <p:nvPr/>
        </p:nvSpPr>
        <p:spPr>
          <a:xfrm>
            <a:off x="10149840" y="1828800"/>
            <a:ext cx="640080" cy="640080"/>
          </a:xfrm>
          <a:prstGeom prst="rect">
            <a:avLst/>
          </a:prstGeom>
          <a:noFill/>
          <a:ln/>
        </p:spPr>
        <p:txBody>
          <a:bodyPr wrap="square"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4</a:t>
            </a:r>
            <a:endParaRPr lang="en-US" sz="2200" dirty="0"/>
          </a:p>
        </p:txBody>
      </p:sp>
      <p:sp>
        <p:nvSpPr>
          <p:cNvPr id="27" name="Text 25"/>
          <p:cNvSpPr/>
          <p:nvPr/>
        </p:nvSpPr>
        <p:spPr>
          <a:xfrm>
            <a:off x="9418320" y="2651760"/>
            <a:ext cx="2194560" cy="41148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Query</a:t>
            </a:r>
            <a:endParaRPr lang="en-US" sz="1600" dirty="0"/>
          </a:p>
        </p:txBody>
      </p:sp>
      <p:sp>
        <p:nvSpPr>
          <p:cNvPr id="28" name="Text 26"/>
          <p:cNvSpPr/>
          <p:nvPr/>
        </p:nvSpPr>
        <p:spPr>
          <a:xfrm>
            <a:off x="9418320" y="3108960"/>
            <a:ext cx="2194560" cy="822960"/>
          </a:xfrm>
          <a:prstGeom prst="rect">
            <a:avLst/>
          </a:prstGeom>
          <a:noFill/>
          <a:ln/>
        </p:spPr>
        <p:txBody>
          <a:bodyPr wrap="square" rtlCol="0" anchor="ctr"/>
          <a:lstStyle/>
          <a:p>
            <a:pPr marL="0" indent="0" algn="ctr">
              <a:buNone/>
            </a:pPr>
            <a:r>
              <a:rPr lang="en-US" sz="1100" dirty="0">
                <a:solidFill>
                  <a:srgbClr val="C8C8E0"/>
                </a:solidFill>
                <a:latin typeface="Segoe UI Light" pitchFamily="34" charset="0"/>
                <a:ea typeface="Segoe UI Light" pitchFamily="34" charset="-122"/>
                <a:cs typeface="Segoe UI Light" pitchFamily="34" charset="-120"/>
              </a:rPr>
              <a:t>QuickSight shows</a:t>
            </a:r>
            <a:endParaRPr lang="en-US" sz="1100" dirty="0"/>
          </a:p>
          <a:p>
            <a:pPr marL="0" indent="0" algn="ctr">
              <a:buNone/>
            </a:pPr>
            <a:r>
              <a:rPr lang="en-US" sz="1100" dirty="0">
                <a:solidFill>
                  <a:srgbClr val="C8C8E0"/>
                </a:solidFill>
                <a:latin typeface="Segoe UI Light" pitchFamily="34" charset="0"/>
                <a:ea typeface="Segoe UI Light" pitchFamily="34" charset="-122"/>
                <a:cs typeface="Segoe UI Light" pitchFamily="34" charset="-120"/>
              </a:rPr>
              <a:t>live data instantly</a:t>
            </a:r>
            <a:endParaRPr lang="en-US" sz="1100" dirty="0"/>
          </a:p>
        </p:txBody>
      </p:sp>
      <p:sp>
        <p:nvSpPr>
          <p:cNvPr id="29" name="Text 27"/>
          <p:cNvSpPr/>
          <p:nvPr/>
        </p:nvSpPr>
        <p:spPr>
          <a:xfrm>
            <a:off x="731520" y="4480560"/>
            <a:ext cx="4572000" cy="365760"/>
          </a:xfrm>
          <a:prstGeom prst="rect">
            <a:avLst/>
          </a:prstGeom>
          <a:noFill/>
          <a:ln/>
        </p:spPr>
        <p:txBody>
          <a:bodyPr wrap="square" rtlCol="0" anchor="ctr"/>
          <a:lstStyle/>
          <a:p>
            <a:pPr marL="0" indent="0" algn="l">
              <a:buNone/>
            </a:pPr>
            <a:r>
              <a:rPr lang="en-US" sz="1600" b="1" dirty="0">
                <a:solidFill>
                  <a:srgbClr val="FF2D8A"/>
                </a:solidFill>
                <a:latin typeface="Segoe UI" pitchFamily="34" charset="0"/>
                <a:ea typeface="Segoe UI" pitchFamily="34" charset="-122"/>
                <a:cs typeface="Segoe UI" pitchFamily="34" charset="-120"/>
              </a:rPr>
              <a:t>Live Demo Highlights</a:t>
            </a:r>
            <a:endParaRPr lang="en-US" sz="1600" dirty="0"/>
          </a:p>
        </p:txBody>
      </p:sp>
      <p:sp>
        <p:nvSpPr>
          <p:cNvPr id="30" name="Text 28"/>
          <p:cNvSpPr/>
          <p:nvPr/>
        </p:nvSpPr>
        <p:spPr>
          <a:xfrm>
            <a:off x="914400" y="4937760"/>
            <a:ext cx="10058400" cy="365760"/>
          </a:xfrm>
          <a:prstGeom prst="rect">
            <a:avLst/>
          </a:prstGeom>
          <a:noFill/>
          <a:ln/>
        </p:spPr>
        <p:txBody>
          <a:bodyPr wrap="square" rtlCol="0" anchor="ctr"/>
          <a:lstStyle/>
          <a:p>
            <a:pPr marL="0" indent="0" algn="l">
              <a:buNone/>
            </a:pPr>
            <a:r>
              <a:rPr lang="en-US" sz="1200" dirty="0">
                <a:solidFill>
                  <a:srgbClr val="D8D8F0"/>
                </a:solidFill>
                <a:latin typeface="Segoe UI Light" pitchFamily="34" charset="0"/>
                <a:ea typeface="Segoe UI Light" pitchFamily="34" charset="-122"/>
                <a:cs typeface="Segoe UI Light" pitchFamily="34" charset="-120"/>
              </a:rPr>
              <a:t>▸  Ask QuickSight: "Show me sensor alerts from the last 5 minutes"</a:t>
            </a:r>
            <a:endParaRPr lang="en-US" sz="1200" dirty="0"/>
          </a:p>
        </p:txBody>
      </p:sp>
      <p:sp>
        <p:nvSpPr>
          <p:cNvPr id="31" name="Text 29"/>
          <p:cNvSpPr/>
          <p:nvPr/>
        </p:nvSpPr>
        <p:spPr>
          <a:xfrm>
            <a:off x="914400" y="5394960"/>
            <a:ext cx="10058400" cy="365760"/>
          </a:xfrm>
          <a:prstGeom prst="rect">
            <a:avLst/>
          </a:prstGeom>
          <a:noFill/>
          <a:ln/>
        </p:spPr>
        <p:txBody>
          <a:bodyPr wrap="square" rtlCol="0" anchor="ctr"/>
          <a:lstStyle/>
          <a:p>
            <a:pPr marL="0" indent="0" algn="l">
              <a:buNone/>
            </a:pPr>
            <a:r>
              <a:rPr lang="en-US" sz="1200" dirty="0">
                <a:solidFill>
                  <a:srgbClr val="D8D8F0"/>
                </a:solidFill>
                <a:latin typeface="Segoe UI Light" pitchFamily="34" charset="0"/>
                <a:ea typeface="Segoe UI Light" pitchFamily="34" charset="-122"/>
                <a:cs typeface="Segoe UI Light" pitchFamily="34" charset="-120"/>
              </a:rPr>
              <a:t>▸  Watch real-time geospatial map update as fleet vehicles move</a:t>
            </a:r>
            <a:endParaRPr lang="en-US" sz="1200" dirty="0"/>
          </a:p>
        </p:txBody>
      </p:sp>
      <p:sp>
        <p:nvSpPr>
          <p:cNvPr id="32" name="Text 30"/>
          <p:cNvSpPr/>
          <p:nvPr/>
        </p:nvSpPr>
        <p:spPr>
          <a:xfrm>
            <a:off x="914400" y="5852160"/>
            <a:ext cx="10058400" cy="365760"/>
          </a:xfrm>
          <a:prstGeom prst="rect">
            <a:avLst/>
          </a:prstGeom>
          <a:noFill/>
          <a:ln/>
        </p:spPr>
        <p:txBody>
          <a:bodyPr wrap="square" rtlCol="0" anchor="ctr"/>
          <a:lstStyle/>
          <a:p>
            <a:pPr marL="0" indent="0" algn="l">
              <a:buNone/>
            </a:pPr>
            <a:r>
              <a:rPr lang="en-US" sz="1200" dirty="0">
                <a:solidFill>
                  <a:srgbClr val="D8D8F0"/>
                </a:solidFill>
                <a:latin typeface="Segoe UI Light" pitchFamily="34" charset="0"/>
                <a:ea typeface="Segoe UI Light" pitchFamily="34" charset="-122"/>
                <a:cs typeface="Segoe UI Light" pitchFamily="34" charset="-120"/>
              </a:rPr>
              <a:t>▸  Demonstrate data freshness: send message → see in dashboard within 60s</a:t>
            </a:r>
            <a:endParaRPr lang="en-US" sz="1200" dirty="0"/>
          </a:p>
        </p:txBody>
      </p:sp>
      <p:sp>
        <p:nvSpPr>
          <p:cNvPr id="33" name="Text 31"/>
          <p:cNvSpPr/>
          <p:nvPr/>
        </p:nvSpPr>
        <p:spPr>
          <a:xfrm>
            <a:off x="10972800" y="6400800"/>
            <a:ext cx="914400" cy="274320"/>
          </a:xfrm>
          <a:prstGeom prst="rect">
            <a:avLst/>
          </a:prstGeom>
          <a:noFill/>
          <a:ln/>
        </p:spPr>
        <p:txBody>
          <a:bodyPr wrap="square" rtlCol="0" anchor="ctr"/>
          <a:lstStyle/>
          <a:p>
            <a:pPr marL="0" indent="0" algn="r">
              <a:buNone/>
            </a:pPr>
            <a:r>
              <a:rPr lang="en-US" sz="900" dirty="0">
                <a:solidFill>
                  <a:srgbClr val="666699"/>
                </a:solidFill>
                <a:latin typeface="Segoe UI" pitchFamily="34" charset="0"/>
                <a:ea typeface="Segoe UI" pitchFamily="34" charset="-122"/>
                <a:cs typeface="Segoe U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B2D"/>
        </a:solidFill>
        <a:effectLst/>
      </p:bgPr>
    </p:bg>
    <p:spTree>
      <p:nvGrpSpPr>
        <p:cNvPr id="1" name=""/>
        <p:cNvGrpSpPr/>
        <p:nvPr/>
      </p:nvGrpSpPr>
      <p:grpSpPr>
        <a:xfrm>
          <a:off x="0" y="0"/>
          <a:ext cx="0" cy="0"/>
          <a:chOff x="0" y="0"/>
          <a:chExt cx="0" cy="0"/>
        </a:xfrm>
      </p:grpSpPr>
      <p:sp>
        <p:nvSpPr>
          <p:cNvPr id="2" name="Shape 0"/>
          <p:cNvSpPr/>
          <p:nvPr/>
        </p:nvSpPr>
        <p:spPr>
          <a:xfrm>
            <a:off x="7772400" y="-1828800"/>
            <a:ext cx="6400800" cy="6400800"/>
          </a:xfrm>
          <a:prstGeom prst="ellipse">
            <a:avLst/>
          </a:prstGeom>
          <a:solidFill>
            <a:srgbClr val="6B0AC9"/>
          </a:solidFill>
          <a:ln/>
        </p:spPr>
        <p:txBody>
          <a:bodyPr/>
          <a:lstStyle/>
          <a:p>
            <a:endParaRPr lang="en-US"/>
          </a:p>
        </p:txBody>
      </p:sp>
      <p:sp>
        <p:nvSpPr>
          <p:cNvPr id="3" name="Shape 1"/>
          <p:cNvSpPr/>
          <p:nvPr/>
        </p:nvSpPr>
        <p:spPr>
          <a:xfrm>
            <a:off x="8686800" y="-1371600"/>
            <a:ext cx="4572000" cy="4572000"/>
          </a:xfrm>
          <a:prstGeom prst="ellipse">
            <a:avLst/>
          </a:prstGeom>
          <a:solidFill>
            <a:srgbClr val="4A07A0"/>
          </a:solidFill>
          <a:ln/>
        </p:spPr>
        <p:txBody>
          <a:bodyPr/>
          <a:lstStyle/>
          <a:p>
            <a:endParaRPr lang="en-US"/>
          </a:p>
        </p:txBody>
      </p:sp>
      <p:sp>
        <p:nvSpPr>
          <p:cNvPr id="4" name="Text 2"/>
          <p:cNvSpPr/>
          <p:nvPr/>
        </p:nvSpPr>
        <p:spPr>
          <a:xfrm>
            <a:off x="731520" y="365760"/>
            <a:ext cx="9144000" cy="548640"/>
          </a:xfrm>
          <a:prstGeom prst="rect">
            <a:avLst/>
          </a:prstGeom>
          <a:noFill/>
          <a:ln/>
        </p:spPr>
        <p:txBody>
          <a:bodyPr wrap="square" rtlCol="0" anchor="ctr"/>
          <a:lstStyle/>
          <a:p>
            <a:pPr marL="0" indent="0" algn="l">
              <a:buNone/>
            </a:pPr>
            <a:r>
              <a:rPr lang="en-US" sz="3200" kern="0" spc="200" dirty="0">
                <a:solidFill>
                  <a:srgbClr val="FFFFFF"/>
                </a:solidFill>
                <a:latin typeface="Segoe UI" pitchFamily="34" charset="0"/>
                <a:ea typeface="Segoe UI" pitchFamily="34" charset="-122"/>
                <a:cs typeface="Segoe UI" pitchFamily="34" charset="-120"/>
              </a:rPr>
              <a:t>BEST PRACTICES &amp; CONSIDERATIONS</a:t>
            </a:r>
            <a:endParaRPr lang="en-US" sz="3200" dirty="0"/>
          </a:p>
        </p:txBody>
      </p:sp>
      <p:sp>
        <p:nvSpPr>
          <p:cNvPr id="5" name="Shape 3"/>
          <p:cNvSpPr/>
          <p:nvPr/>
        </p:nvSpPr>
        <p:spPr>
          <a:xfrm>
            <a:off x="731520" y="1280160"/>
            <a:ext cx="5303520" cy="2194560"/>
          </a:xfrm>
          <a:prstGeom prst="roundRect">
            <a:avLst>
              <a:gd name="adj" fmla="val 2500"/>
            </a:avLst>
          </a:prstGeom>
          <a:solidFill>
            <a:srgbClr val="0D1147"/>
          </a:solidFill>
          <a:ln w="12700">
            <a:solidFill>
              <a:srgbClr val="7B5EA7"/>
            </a:solidFill>
            <a:prstDash val="solid"/>
          </a:ln>
        </p:spPr>
        <p:txBody>
          <a:bodyPr/>
          <a:lstStyle/>
          <a:p>
            <a:endParaRPr lang="en-US"/>
          </a:p>
        </p:txBody>
      </p:sp>
      <p:sp>
        <p:nvSpPr>
          <p:cNvPr id="6" name="Shape 4"/>
          <p:cNvSpPr/>
          <p:nvPr/>
        </p:nvSpPr>
        <p:spPr>
          <a:xfrm>
            <a:off x="731520" y="1554480"/>
            <a:ext cx="54864" cy="1645920"/>
          </a:xfrm>
          <a:prstGeom prst="rect">
            <a:avLst/>
          </a:prstGeom>
          <a:solidFill>
            <a:srgbClr val="7B5EA7"/>
          </a:solidFill>
          <a:ln/>
        </p:spPr>
        <p:txBody>
          <a:bodyPr/>
          <a:lstStyle/>
          <a:p>
            <a:endParaRPr lang="en-US"/>
          </a:p>
        </p:txBody>
      </p:sp>
      <p:sp>
        <p:nvSpPr>
          <p:cNvPr id="7" name="Text 5"/>
          <p:cNvSpPr/>
          <p:nvPr/>
        </p:nvSpPr>
        <p:spPr>
          <a:xfrm>
            <a:off x="1097280" y="1554480"/>
            <a:ext cx="4572000" cy="457200"/>
          </a:xfrm>
          <a:prstGeom prst="rect">
            <a:avLst/>
          </a:prstGeom>
          <a:noFill/>
          <a:ln/>
        </p:spPr>
        <p:txBody>
          <a:bodyPr wrap="square" rtlCol="0" anchor="ctr"/>
          <a:lstStyle/>
          <a:p>
            <a:pPr marL="0" indent="0" algn="l">
              <a:buNone/>
            </a:pPr>
            <a:r>
              <a:rPr lang="en-US" sz="1600" b="1" dirty="0">
                <a:solidFill>
                  <a:srgbClr val="FFFFFF"/>
                </a:solidFill>
                <a:latin typeface="Segoe UI" pitchFamily="34" charset="0"/>
                <a:ea typeface="Segoe UI" pitchFamily="34" charset="-122"/>
                <a:cs typeface="Segoe UI" pitchFamily="34" charset="-120"/>
              </a:rPr>
              <a:t>Buffer Tuning</a:t>
            </a:r>
            <a:endParaRPr lang="en-US" sz="1600" dirty="0"/>
          </a:p>
        </p:txBody>
      </p:sp>
      <p:sp>
        <p:nvSpPr>
          <p:cNvPr id="8" name="Text 6"/>
          <p:cNvSpPr/>
          <p:nvPr/>
        </p:nvSpPr>
        <p:spPr>
          <a:xfrm>
            <a:off x="1097280" y="2103120"/>
            <a:ext cx="4572000" cy="1188720"/>
          </a:xfrm>
          <a:prstGeom prst="rect">
            <a:avLst/>
          </a:prstGeom>
          <a:noFill/>
          <a:ln/>
        </p:spPr>
        <p:txBody>
          <a:bodyPr wrap="square" rtlCol="0" anchor="ctr"/>
          <a:lstStyle/>
          <a:p>
            <a:pPr marL="0" indent="0" algn="l">
              <a:buNone/>
            </a:pPr>
            <a:r>
              <a:rPr lang="en-US" sz="1200" dirty="0">
                <a:solidFill>
                  <a:srgbClr val="C8C8E0"/>
                </a:solidFill>
                <a:latin typeface="Segoe UI Light" pitchFamily="34" charset="0"/>
                <a:ea typeface="Segoe UI Light" pitchFamily="34" charset="-122"/>
                <a:cs typeface="Segoe UI Light" pitchFamily="34" charset="-120"/>
              </a:rPr>
              <a:t>Set Firehose buffer to 60s/1MB minimum for lowest latency. Increase for cost optimization in non-critical paths.</a:t>
            </a:r>
            <a:endParaRPr lang="en-US" sz="1200" dirty="0"/>
          </a:p>
        </p:txBody>
      </p:sp>
      <p:sp>
        <p:nvSpPr>
          <p:cNvPr id="9" name="Shape 7"/>
          <p:cNvSpPr/>
          <p:nvPr/>
        </p:nvSpPr>
        <p:spPr>
          <a:xfrm>
            <a:off x="6400800" y="1280160"/>
            <a:ext cx="5303520" cy="2194560"/>
          </a:xfrm>
          <a:prstGeom prst="roundRect">
            <a:avLst>
              <a:gd name="adj" fmla="val 2500"/>
            </a:avLst>
          </a:prstGeom>
          <a:solidFill>
            <a:srgbClr val="0D1147"/>
          </a:solidFill>
          <a:ln w="12700">
            <a:solidFill>
              <a:srgbClr val="7AB648"/>
            </a:solidFill>
            <a:prstDash val="solid"/>
          </a:ln>
        </p:spPr>
        <p:txBody>
          <a:bodyPr/>
          <a:lstStyle/>
          <a:p>
            <a:endParaRPr lang="en-US"/>
          </a:p>
        </p:txBody>
      </p:sp>
      <p:sp>
        <p:nvSpPr>
          <p:cNvPr id="10" name="Shape 8"/>
          <p:cNvSpPr/>
          <p:nvPr/>
        </p:nvSpPr>
        <p:spPr>
          <a:xfrm>
            <a:off x="6400800" y="1554480"/>
            <a:ext cx="54864" cy="1645920"/>
          </a:xfrm>
          <a:prstGeom prst="rect">
            <a:avLst/>
          </a:prstGeom>
          <a:solidFill>
            <a:srgbClr val="7AB648"/>
          </a:solidFill>
          <a:ln/>
        </p:spPr>
        <p:txBody>
          <a:bodyPr/>
          <a:lstStyle/>
          <a:p>
            <a:endParaRPr lang="en-US"/>
          </a:p>
        </p:txBody>
      </p:sp>
      <p:sp>
        <p:nvSpPr>
          <p:cNvPr id="11" name="Text 9"/>
          <p:cNvSpPr/>
          <p:nvPr/>
        </p:nvSpPr>
        <p:spPr>
          <a:xfrm>
            <a:off x="6766560" y="1554480"/>
            <a:ext cx="4572000" cy="457200"/>
          </a:xfrm>
          <a:prstGeom prst="rect">
            <a:avLst/>
          </a:prstGeom>
          <a:noFill/>
          <a:ln/>
        </p:spPr>
        <p:txBody>
          <a:bodyPr wrap="square" rtlCol="0" anchor="ctr"/>
          <a:lstStyle/>
          <a:p>
            <a:pPr marL="0" indent="0" algn="l">
              <a:buNone/>
            </a:pPr>
            <a:r>
              <a:rPr lang="en-US" sz="1600" b="1" dirty="0">
                <a:solidFill>
                  <a:srgbClr val="FFFFFF"/>
                </a:solidFill>
                <a:latin typeface="Segoe UI" pitchFamily="34" charset="0"/>
                <a:ea typeface="Segoe UI" pitchFamily="34" charset="-122"/>
                <a:cs typeface="Segoe UI" pitchFamily="34" charset="-120"/>
              </a:rPr>
              <a:t>Partitioning Strategy</a:t>
            </a:r>
            <a:endParaRPr lang="en-US" sz="1600" dirty="0"/>
          </a:p>
        </p:txBody>
      </p:sp>
      <p:sp>
        <p:nvSpPr>
          <p:cNvPr id="12" name="Text 10"/>
          <p:cNvSpPr/>
          <p:nvPr/>
        </p:nvSpPr>
        <p:spPr>
          <a:xfrm>
            <a:off x="6766560" y="2103120"/>
            <a:ext cx="4572000" cy="1188720"/>
          </a:xfrm>
          <a:prstGeom prst="rect">
            <a:avLst/>
          </a:prstGeom>
          <a:noFill/>
          <a:ln/>
        </p:spPr>
        <p:txBody>
          <a:bodyPr wrap="square" rtlCol="0" anchor="ctr"/>
          <a:lstStyle/>
          <a:p>
            <a:pPr marL="0" indent="0" algn="l">
              <a:buNone/>
            </a:pPr>
            <a:r>
              <a:rPr lang="en-US" sz="1200" dirty="0">
                <a:solidFill>
                  <a:srgbClr val="C8C8E0"/>
                </a:solidFill>
                <a:latin typeface="Segoe UI Light" pitchFamily="34" charset="0"/>
                <a:ea typeface="Segoe UI Light" pitchFamily="34" charset="-122"/>
                <a:cs typeface="Segoe UI Light" pitchFamily="34" charset="-120"/>
              </a:rPr>
              <a:t>Partition by date/hour for time-series IoT data. Enables efficient time-range pruning in Direct Query.</a:t>
            </a:r>
            <a:endParaRPr lang="en-US" sz="1200" dirty="0"/>
          </a:p>
        </p:txBody>
      </p:sp>
      <p:sp>
        <p:nvSpPr>
          <p:cNvPr id="13" name="Shape 11"/>
          <p:cNvSpPr/>
          <p:nvPr/>
        </p:nvSpPr>
        <p:spPr>
          <a:xfrm>
            <a:off x="731520" y="3840480"/>
            <a:ext cx="5303520" cy="2194560"/>
          </a:xfrm>
          <a:prstGeom prst="roundRect">
            <a:avLst>
              <a:gd name="adj" fmla="val 2500"/>
            </a:avLst>
          </a:prstGeom>
          <a:solidFill>
            <a:srgbClr val="0D1147"/>
          </a:solidFill>
          <a:ln w="12700">
            <a:solidFill>
              <a:srgbClr val="FF2D8A"/>
            </a:solidFill>
            <a:prstDash val="solid"/>
          </a:ln>
        </p:spPr>
        <p:txBody>
          <a:bodyPr/>
          <a:lstStyle/>
          <a:p>
            <a:endParaRPr lang="en-US"/>
          </a:p>
        </p:txBody>
      </p:sp>
      <p:sp>
        <p:nvSpPr>
          <p:cNvPr id="14" name="Shape 12"/>
          <p:cNvSpPr/>
          <p:nvPr/>
        </p:nvSpPr>
        <p:spPr>
          <a:xfrm>
            <a:off x="731520" y="4114800"/>
            <a:ext cx="54864" cy="1645920"/>
          </a:xfrm>
          <a:prstGeom prst="rect">
            <a:avLst/>
          </a:prstGeom>
          <a:solidFill>
            <a:srgbClr val="FF2D8A"/>
          </a:solidFill>
          <a:ln/>
        </p:spPr>
        <p:txBody>
          <a:bodyPr/>
          <a:lstStyle/>
          <a:p>
            <a:endParaRPr lang="en-US"/>
          </a:p>
        </p:txBody>
      </p:sp>
      <p:sp>
        <p:nvSpPr>
          <p:cNvPr id="15" name="Text 13"/>
          <p:cNvSpPr/>
          <p:nvPr/>
        </p:nvSpPr>
        <p:spPr>
          <a:xfrm>
            <a:off x="1097280" y="4114800"/>
            <a:ext cx="4572000" cy="457200"/>
          </a:xfrm>
          <a:prstGeom prst="rect">
            <a:avLst/>
          </a:prstGeom>
          <a:noFill/>
          <a:ln/>
        </p:spPr>
        <p:txBody>
          <a:bodyPr wrap="square" rtlCol="0" anchor="ctr"/>
          <a:lstStyle/>
          <a:p>
            <a:pPr marL="0" indent="0" algn="l">
              <a:buNone/>
            </a:pPr>
            <a:r>
              <a:rPr lang="en-US" sz="1600" b="1" dirty="0">
                <a:solidFill>
                  <a:srgbClr val="FFFFFF"/>
                </a:solidFill>
                <a:latin typeface="Segoe UI" pitchFamily="34" charset="0"/>
                <a:ea typeface="Segoe UI" pitchFamily="34" charset="-122"/>
                <a:cs typeface="Segoe UI" pitchFamily="34" charset="-120"/>
              </a:rPr>
              <a:t>Security &amp; Governance</a:t>
            </a:r>
            <a:endParaRPr lang="en-US" sz="1600" dirty="0"/>
          </a:p>
        </p:txBody>
      </p:sp>
      <p:sp>
        <p:nvSpPr>
          <p:cNvPr id="16" name="Text 14"/>
          <p:cNvSpPr/>
          <p:nvPr/>
        </p:nvSpPr>
        <p:spPr>
          <a:xfrm>
            <a:off x="1097280" y="4663440"/>
            <a:ext cx="4572000" cy="1188720"/>
          </a:xfrm>
          <a:prstGeom prst="rect">
            <a:avLst/>
          </a:prstGeom>
          <a:noFill/>
          <a:ln/>
        </p:spPr>
        <p:txBody>
          <a:bodyPr wrap="square" rtlCol="0" anchor="ctr"/>
          <a:lstStyle/>
          <a:p>
            <a:pPr marL="0" indent="0" algn="l">
              <a:buNone/>
            </a:pPr>
            <a:r>
              <a:rPr lang="en-US" sz="1200" dirty="0">
                <a:solidFill>
                  <a:srgbClr val="C8C8E0"/>
                </a:solidFill>
                <a:latin typeface="Segoe UI Light" pitchFamily="34" charset="0"/>
                <a:ea typeface="Segoe UI Light" pitchFamily="34" charset="-122"/>
                <a:cs typeface="Segoe UI Light" pitchFamily="34" charset="-120"/>
              </a:rPr>
              <a:t>IoT Core → Lake Formation governance chain. Use fine-grained column/row-level permissions.</a:t>
            </a:r>
            <a:endParaRPr lang="en-US" sz="1200" dirty="0"/>
          </a:p>
        </p:txBody>
      </p:sp>
      <p:sp>
        <p:nvSpPr>
          <p:cNvPr id="17" name="Shape 15"/>
          <p:cNvSpPr/>
          <p:nvPr/>
        </p:nvSpPr>
        <p:spPr>
          <a:xfrm>
            <a:off x="6400800" y="3840480"/>
            <a:ext cx="5303520" cy="2194560"/>
          </a:xfrm>
          <a:prstGeom prst="roundRect">
            <a:avLst>
              <a:gd name="adj" fmla="val 2500"/>
            </a:avLst>
          </a:prstGeom>
          <a:solidFill>
            <a:srgbClr val="0D1147"/>
          </a:solidFill>
          <a:ln w="12700">
            <a:solidFill>
              <a:srgbClr val="FFFFFF"/>
            </a:solidFill>
            <a:prstDash val="solid"/>
          </a:ln>
        </p:spPr>
        <p:txBody>
          <a:bodyPr/>
          <a:lstStyle/>
          <a:p>
            <a:endParaRPr lang="en-US"/>
          </a:p>
        </p:txBody>
      </p:sp>
      <p:sp>
        <p:nvSpPr>
          <p:cNvPr id="18" name="Shape 16"/>
          <p:cNvSpPr/>
          <p:nvPr/>
        </p:nvSpPr>
        <p:spPr>
          <a:xfrm>
            <a:off x="6400800" y="4114800"/>
            <a:ext cx="54864" cy="1645920"/>
          </a:xfrm>
          <a:prstGeom prst="rect">
            <a:avLst/>
          </a:prstGeom>
          <a:solidFill>
            <a:srgbClr val="FFFFFF"/>
          </a:solidFill>
          <a:ln/>
        </p:spPr>
        <p:txBody>
          <a:bodyPr/>
          <a:lstStyle/>
          <a:p>
            <a:endParaRPr lang="en-US"/>
          </a:p>
        </p:txBody>
      </p:sp>
      <p:sp>
        <p:nvSpPr>
          <p:cNvPr id="19" name="Text 17"/>
          <p:cNvSpPr/>
          <p:nvPr/>
        </p:nvSpPr>
        <p:spPr>
          <a:xfrm>
            <a:off x="6766560" y="4114800"/>
            <a:ext cx="4572000" cy="457200"/>
          </a:xfrm>
          <a:prstGeom prst="rect">
            <a:avLst/>
          </a:prstGeom>
          <a:noFill/>
          <a:ln/>
        </p:spPr>
        <p:txBody>
          <a:bodyPr wrap="square" rtlCol="0" anchor="ctr"/>
          <a:lstStyle/>
          <a:p>
            <a:pPr marL="0" indent="0" algn="l">
              <a:buNone/>
            </a:pPr>
            <a:r>
              <a:rPr lang="en-US" sz="1600" b="1" dirty="0">
                <a:solidFill>
                  <a:srgbClr val="FFFFFF"/>
                </a:solidFill>
                <a:latin typeface="Segoe UI" pitchFamily="34" charset="0"/>
                <a:ea typeface="Segoe UI" pitchFamily="34" charset="-122"/>
                <a:cs typeface="Segoe UI" pitchFamily="34" charset="-120"/>
              </a:rPr>
              <a:t>Monitoring</a:t>
            </a:r>
            <a:endParaRPr lang="en-US" sz="1600" dirty="0"/>
          </a:p>
        </p:txBody>
      </p:sp>
      <p:sp>
        <p:nvSpPr>
          <p:cNvPr id="20" name="Text 18"/>
          <p:cNvSpPr/>
          <p:nvPr/>
        </p:nvSpPr>
        <p:spPr>
          <a:xfrm>
            <a:off x="6766560" y="4663440"/>
            <a:ext cx="4572000" cy="1188720"/>
          </a:xfrm>
          <a:prstGeom prst="rect">
            <a:avLst/>
          </a:prstGeom>
          <a:noFill/>
          <a:ln/>
        </p:spPr>
        <p:txBody>
          <a:bodyPr wrap="square" rtlCol="0" anchor="ctr"/>
          <a:lstStyle/>
          <a:p>
            <a:pPr marL="0" indent="0" algn="l">
              <a:buNone/>
            </a:pPr>
            <a:r>
              <a:rPr lang="en-US" sz="1200" dirty="0">
                <a:solidFill>
                  <a:srgbClr val="C8C8E0"/>
                </a:solidFill>
                <a:latin typeface="Segoe UI Light" pitchFamily="34" charset="0"/>
                <a:ea typeface="Segoe UI Light" pitchFamily="34" charset="-122"/>
                <a:cs typeface="Segoe UI Light" pitchFamily="34" charset="-120"/>
              </a:rPr>
              <a:t>CloudWatch dashboards for pipeline health. Alert on Firehose delivery failures and KDS iterator age.</a:t>
            </a:r>
            <a:endParaRPr lang="en-US" sz="1200" dirty="0"/>
          </a:p>
        </p:txBody>
      </p:sp>
      <p:sp>
        <p:nvSpPr>
          <p:cNvPr id="21" name="Text 19"/>
          <p:cNvSpPr/>
          <p:nvPr/>
        </p:nvSpPr>
        <p:spPr>
          <a:xfrm>
            <a:off x="10972800" y="6400800"/>
            <a:ext cx="914400" cy="274320"/>
          </a:xfrm>
          <a:prstGeom prst="rect">
            <a:avLst/>
          </a:prstGeom>
          <a:noFill/>
          <a:ln/>
        </p:spPr>
        <p:txBody>
          <a:bodyPr wrap="square" rtlCol="0" anchor="ctr"/>
          <a:lstStyle/>
          <a:p>
            <a:pPr marL="0" indent="0" algn="r">
              <a:buNone/>
            </a:pPr>
            <a:r>
              <a:rPr lang="en-US" sz="900" dirty="0">
                <a:solidFill>
                  <a:srgbClr val="666699"/>
                </a:solidFill>
                <a:latin typeface="Segoe UI" pitchFamily="34" charset="0"/>
                <a:ea typeface="Segoe UI" pitchFamily="34" charset="-122"/>
                <a:cs typeface="Segoe U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B2D"/>
        </a:solidFill>
        <a:effectLst/>
      </p:bgPr>
    </p:bg>
    <p:spTree>
      <p:nvGrpSpPr>
        <p:cNvPr id="1" name=""/>
        <p:cNvGrpSpPr/>
        <p:nvPr/>
      </p:nvGrpSpPr>
      <p:grpSpPr>
        <a:xfrm>
          <a:off x="0" y="0"/>
          <a:ext cx="0" cy="0"/>
          <a:chOff x="0" y="0"/>
          <a:chExt cx="0" cy="0"/>
        </a:xfrm>
      </p:grpSpPr>
      <p:sp>
        <p:nvSpPr>
          <p:cNvPr id="2" name="Shape 0"/>
          <p:cNvSpPr/>
          <p:nvPr/>
        </p:nvSpPr>
        <p:spPr>
          <a:xfrm>
            <a:off x="7772400" y="-1828800"/>
            <a:ext cx="6400800" cy="6400800"/>
          </a:xfrm>
          <a:prstGeom prst="ellipse">
            <a:avLst/>
          </a:prstGeom>
          <a:solidFill>
            <a:srgbClr val="6B0AC9"/>
          </a:solidFill>
          <a:ln/>
        </p:spPr>
        <p:txBody>
          <a:bodyPr/>
          <a:lstStyle/>
          <a:p>
            <a:endParaRPr lang="en-US"/>
          </a:p>
        </p:txBody>
      </p:sp>
      <p:sp>
        <p:nvSpPr>
          <p:cNvPr id="3" name="Shape 1"/>
          <p:cNvSpPr/>
          <p:nvPr/>
        </p:nvSpPr>
        <p:spPr>
          <a:xfrm>
            <a:off x="8686800" y="-1371600"/>
            <a:ext cx="4572000" cy="4572000"/>
          </a:xfrm>
          <a:prstGeom prst="ellipse">
            <a:avLst/>
          </a:prstGeom>
          <a:solidFill>
            <a:srgbClr val="4A07A0"/>
          </a:solidFill>
          <a:ln/>
        </p:spPr>
        <p:txBody>
          <a:bodyPr/>
          <a:lstStyle/>
          <a:p>
            <a:endParaRPr lang="en-US"/>
          </a:p>
        </p:txBody>
      </p:sp>
      <p:sp>
        <p:nvSpPr>
          <p:cNvPr id="4" name="Text 2"/>
          <p:cNvSpPr/>
          <p:nvPr/>
        </p:nvSpPr>
        <p:spPr>
          <a:xfrm>
            <a:off x="731520" y="365760"/>
            <a:ext cx="7315200" cy="548640"/>
          </a:xfrm>
          <a:prstGeom prst="rect">
            <a:avLst/>
          </a:prstGeom>
          <a:noFill/>
          <a:ln/>
        </p:spPr>
        <p:txBody>
          <a:bodyPr wrap="square" rtlCol="0" anchor="ctr"/>
          <a:lstStyle/>
          <a:p>
            <a:pPr marL="0" indent="0" algn="l">
              <a:buNone/>
            </a:pPr>
            <a:r>
              <a:rPr lang="en-US" sz="3200" kern="0" spc="200" dirty="0">
                <a:solidFill>
                  <a:srgbClr val="FFFFFF"/>
                </a:solidFill>
                <a:latin typeface="Segoe UI" pitchFamily="34" charset="0"/>
                <a:ea typeface="Segoe UI" pitchFamily="34" charset="-122"/>
                <a:cs typeface="Segoe UI" pitchFamily="34" charset="-120"/>
              </a:rPr>
              <a:t>NEXT STEPS</a:t>
            </a:r>
            <a:endParaRPr lang="en-US" sz="3200" dirty="0"/>
          </a:p>
        </p:txBody>
      </p:sp>
      <p:sp>
        <p:nvSpPr>
          <p:cNvPr id="5" name="Shape 3"/>
          <p:cNvSpPr/>
          <p:nvPr/>
        </p:nvSpPr>
        <p:spPr>
          <a:xfrm>
            <a:off x="914400" y="1234440"/>
            <a:ext cx="457200" cy="457200"/>
          </a:xfrm>
          <a:prstGeom prst="roundRect">
            <a:avLst>
              <a:gd name="adj" fmla="val 10000"/>
            </a:avLst>
          </a:prstGeom>
          <a:solidFill>
            <a:srgbClr val="FF2D8A"/>
          </a:solidFill>
          <a:ln/>
        </p:spPr>
        <p:txBody>
          <a:bodyPr/>
          <a:lstStyle/>
          <a:p>
            <a:endParaRPr lang="en-US"/>
          </a:p>
        </p:txBody>
      </p:sp>
      <p:sp>
        <p:nvSpPr>
          <p:cNvPr id="6" name="Text 4"/>
          <p:cNvSpPr/>
          <p:nvPr/>
        </p:nvSpPr>
        <p:spPr>
          <a:xfrm>
            <a:off x="914400" y="1234440"/>
            <a:ext cx="457200" cy="45720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7" name="Text 5"/>
          <p:cNvSpPr/>
          <p:nvPr/>
        </p:nvSpPr>
        <p:spPr>
          <a:xfrm>
            <a:off x="1645920" y="1188720"/>
            <a:ext cx="9144000" cy="548640"/>
          </a:xfrm>
          <a:prstGeom prst="rect">
            <a:avLst/>
          </a:prstGeom>
          <a:noFill/>
          <a:ln/>
        </p:spPr>
        <p:txBody>
          <a:bodyPr wrap="square" rtlCol="0" anchor="ctr"/>
          <a:lstStyle/>
          <a:p>
            <a:pPr marL="0" indent="0" algn="l">
              <a:buNone/>
            </a:pPr>
            <a:r>
              <a:rPr lang="en-US" sz="1400" dirty="0">
                <a:solidFill>
                  <a:srgbClr val="FFFFFF"/>
                </a:solidFill>
                <a:latin typeface="Segoe UI" pitchFamily="34" charset="0"/>
                <a:ea typeface="Segoe UI" pitchFamily="34" charset="-122"/>
                <a:cs typeface="Segoe UI" pitchFamily="34" charset="-120"/>
              </a:rPr>
              <a:t>Review the implementation guide for step-by-step setup instructions</a:t>
            </a:r>
            <a:endParaRPr lang="en-US" sz="1400" dirty="0"/>
          </a:p>
        </p:txBody>
      </p:sp>
      <p:sp>
        <p:nvSpPr>
          <p:cNvPr id="8" name="Shape 6"/>
          <p:cNvSpPr/>
          <p:nvPr/>
        </p:nvSpPr>
        <p:spPr>
          <a:xfrm>
            <a:off x="914400" y="2011680"/>
            <a:ext cx="457200" cy="457200"/>
          </a:xfrm>
          <a:prstGeom prst="roundRect">
            <a:avLst>
              <a:gd name="adj" fmla="val 10000"/>
            </a:avLst>
          </a:prstGeom>
          <a:solidFill>
            <a:srgbClr val="FF2D8A"/>
          </a:solidFill>
          <a:ln/>
        </p:spPr>
        <p:txBody>
          <a:bodyPr/>
          <a:lstStyle/>
          <a:p>
            <a:endParaRPr lang="en-US"/>
          </a:p>
        </p:txBody>
      </p:sp>
      <p:sp>
        <p:nvSpPr>
          <p:cNvPr id="9" name="Text 7"/>
          <p:cNvSpPr/>
          <p:nvPr/>
        </p:nvSpPr>
        <p:spPr>
          <a:xfrm>
            <a:off x="914400" y="2011680"/>
            <a:ext cx="457200" cy="45720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0" name="Text 8"/>
          <p:cNvSpPr/>
          <p:nvPr/>
        </p:nvSpPr>
        <p:spPr>
          <a:xfrm>
            <a:off x="1645920" y="1965960"/>
            <a:ext cx="9144000" cy="548640"/>
          </a:xfrm>
          <a:prstGeom prst="rect">
            <a:avLst/>
          </a:prstGeom>
          <a:noFill/>
          <a:ln/>
        </p:spPr>
        <p:txBody>
          <a:bodyPr wrap="square" rtlCol="0" anchor="ctr"/>
          <a:lstStyle/>
          <a:p>
            <a:pPr marL="0" indent="0" algn="l">
              <a:buNone/>
            </a:pPr>
            <a:r>
              <a:rPr lang="en-US" sz="1400" dirty="0">
                <a:solidFill>
                  <a:srgbClr val="FFFFFF"/>
                </a:solidFill>
                <a:latin typeface="Segoe UI" pitchFamily="34" charset="0"/>
                <a:ea typeface="Segoe UI" pitchFamily="34" charset="-122"/>
                <a:cs typeface="Segoe UI" pitchFamily="34" charset="-120"/>
              </a:rPr>
              <a:t>Provision a proof-of-concept environment in your target AWS region</a:t>
            </a:r>
            <a:endParaRPr lang="en-US" sz="1400" dirty="0"/>
          </a:p>
        </p:txBody>
      </p:sp>
      <p:sp>
        <p:nvSpPr>
          <p:cNvPr id="11" name="Shape 9"/>
          <p:cNvSpPr/>
          <p:nvPr/>
        </p:nvSpPr>
        <p:spPr>
          <a:xfrm>
            <a:off x="914400" y="2788920"/>
            <a:ext cx="457200" cy="457200"/>
          </a:xfrm>
          <a:prstGeom prst="roundRect">
            <a:avLst>
              <a:gd name="adj" fmla="val 10000"/>
            </a:avLst>
          </a:prstGeom>
          <a:solidFill>
            <a:srgbClr val="FF2D8A"/>
          </a:solidFill>
          <a:ln/>
        </p:spPr>
        <p:txBody>
          <a:bodyPr/>
          <a:lstStyle/>
          <a:p>
            <a:endParaRPr lang="en-US"/>
          </a:p>
        </p:txBody>
      </p:sp>
      <p:sp>
        <p:nvSpPr>
          <p:cNvPr id="12" name="Text 10"/>
          <p:cNvSpPr/>
          <p:nvPr/>
        </p:nvSpPr>
        <p:spPr>
          <a:xfrm>
            <a:off x="914400" y="2788920"/>
            <a:ext cx="457200" cy="45720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13" name="Text 11"/>
          <p:cNvSpPr/>
          <p:nvPr/>
        </p:nvSpPr>
        <p:spPr>
          <a:xfrm>
            <a:off x="1645920" y="2743200"/>
            <a:ext cx="9144000" cy="548640"/>
          </a:xfrm>
          <a:prstGeom prst="rect">
            <a:avLst/>
          </a:prstGeom>
          <a:noFill/>
          <a:ln/>
        </p:spPr>
        <p:txBody>
          <a:bodyPr wrap="square" rtlCol="0" anchor="ctr"/>
          <a:lstStyle/>
          <a:p>
            <a:pPr marL="0" indent="0" algn="l">
              <a:buNone/>
            </a:pPr>
            <a:r>
              <a:rPr lang="en-US" sz="1400" dirty="0">
                <a:solidFill>
                  <a:srgbClr val="FFFFFF"/>
                </a:solidFill>
                <a:latin typeface="Segoe UI" pitchFamily="34" charset="0"/>
                <a:ea typeface="Segoe UI" pitchFamily="34" charset="-122"/>
                <a:cs typeface="Segoe UI" pitchFamily="34" charset="-120"/>
              </a:rPr>
              <a:t>Define IoT payload schema and partitioning strategy</a:t>
            </a:r>
            <a:endParaRPr lang="en-US" sz="1400" dirty="0"/>
          </a:p>
        </p:txBody>
      </p:sp>
      <p:sp>
        <p:nvSpPr>
          <p:cNvPr id="14" name="Shape 12"/>
          <p:cNvSpPr/>
          <p:nvPr/>
        </p:nvSpPr>
        <p:spPr>
          <a:xfrm>
            <a:off x="914400" y="3566160"/>
            <a:ext cx="457200" cy="457200"/>
          </a:xfrm>
          <a:prstGeom prst="roundRect">
            <a:avLst>
              <a:gd name="adj" fmla="val 10000"/>
            </a:avLst>
          </a:prstGeom>
          <a:solidFill>
            <a:srgbClr val="FF2D8A"/>
          </a:solidFill>
          <a:ln/>
        </p:spPr>
        <p:txBody>
          <a:bodyPr/>
          <a:lstStyle/>
          <a:p>
            <a:endParaRPr lang="en-US"/>
          </a:p>
        </p:txBody>
      </p:sp>
      <p:sp>
        <p:nvSpPr>
          <p:cNvPr id="15" name="Text 13"/>
          <p:cNvSpPr/>
          <p:nvPr/>
        </p:nvSpPr>
        <p:spPr>
          <a:xfrm>
            <a:off x="914400" y="3566160"/>
            <a:ext cx="457200" cy="45720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16" name="Text 14"/>
          <p:cNvSpPr/>
          <p:nvPr/>
        </p:nvSpPr>
        <p:spPr>
          <a:xfrm>
            <a:off x="1645920" y="3520440"/>
            <a:ext cx="9144000" cy="548640"/>
          </a:xfrm>
          <a:prstGeom prst="rect">
            <a:avLst/>
          </a:prstGeom>
          <a:noFill/>
          <a:ln/>
        </p:spPr>
        <p:txBody>
          <a:bodyPr wrap="square" rtlCol="0" anchor="ctr"/>
          <a:lstStyle/>
          <a:p>
            <a:pPr marL="0" indent="0" algn="l">
              <a:buNone/>
            </a:pPr>
            <a:r>
              <a:rPr lang="en-US" sz="1400" dirty="0">
                <a:solidFill>
                  <a:srgbClr val="FFFFFF"/>
                </a:solidFill>
                <a:latin typeface="Segoe UI" pitchFamily="34" charset="0"/>
                <a:ea typeface="Segoe UI" pitchFamily="34" charset="-122"/>
                <a:cs typeface="Segoe UI" pitchFamily="34" charset="-120"/>
              </a:rPr>
              <a:t>Configure QuickSight Direct Query with your S3 Table bucket</a:t>
            </a:r>
            <a:endParaRPr lang="en-US" sz="1400" dirty="0"/>
          </a:p>
        </p:txBody>
      </p:sp>
      <p:sp>
        <p:nvSpPr>
          <p:cNvPr id="17" name="Shape 15"/>
          <p:cNvSpPr/>
          <p:nvPr/>
        </p:nvSpPr>
        <p:spPr>
          <a:xfrm>
            <a:off x="914400" y="4343400"/>
            <a:ext cx="457200" cy="457200"/>
          </a:xfrm>
          <a:prstGeom prst="roundRect">
            <a:avLst>
              <a:gd name="adj" fmla="val 10000"/>
            </a:avLst>
          </a:prstGeom>
          <a:solidFill>
            <a:srgbClr val="FF2D8A"/>
          </a:solidFill>
          <a:ln/>
        </p:spPr>
        <p:txBody>
          <a:bodyPr/>
          <a:lstStyle/>
          <a:p>
            <a:endParaRPr lang="en-US"/>
          </a:p>
        </p:txBody>
      </p:sp>
      <p:sp>
        <p:nvSpPr>
          <p:cNvPr id="18" name="Text 16"/>
          <p:cNvSpPr/>
          <p:nvPr/>
        </p:nvSpPr>
        <p:spPr>
          <a:xfrm>
            <a:off x="914400" y="4343400"/>
            <a:ext cx="457200" cy="45720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19" name="Text 17"/>
          <p:cNvSpPr/>
          <p:nvPr/>
        </p:nvSpPr>
        <p:spPr>
          <a:xfrm>
            <a:off x="1645920" y="4297680"/>
            <a:ext cx="9144000" cy="548640"/>
          </a:xfrm>
          <a:prstGeom prst="rect">
            <a:avLst/>
          </a:prstGeom>
          <a:noFill/>
          <a:ln/>
        </p:spPr>
        <p:txBody>
          <a:bodyPr wrap="square" rtlCol="0" anchor="ctr"/>
          <a:lstStyle/>
          <a:p>
            <a:pPr marL="0" indent="0" algn="l">
              <a:buNone/>
            </a:pPr>
            <a:r>
              <a:rPr lang="en-US" sz="1400" dirty="0">
                <a:solidFill>
                  <a:srgbClr val="FFFFFF"/>
                </a:solidFill>
                <a:latin typeface="Segoe UI" pitchFamily="34" charset="0"/>
                <a:ea typeface="Segoe UI" pitchFamily="34" charset="-122"/>
                <a:cs typeface="Segoe UI" pitchFamily="34" charset="-120"/>
              </a:rPr>
              <a:t>Run end-to-end validation with simulated IoT traffic</a:t>
            </a:r>
            <a:endParaRPr lang="en-US" sz="1400" dirty="0"/>
          </a:p>
        </p:txBody>
      </p:sp>
      <p:sp>
        <p:nvSpPr>
          <p:cNvPr id="20" name="Shape 18"/>
          <p:cNvSpPr/>
          <p:nvPr/>
        </p:nvSpPr>
        <p:spPr>
          <a:xfrm>
            <a:off x="731520" y="5029200"/>
            <a:ext cx="10698480" cy="36576"/>
          </a:xfrm>
          <a:prstGeom prst="rect">
            <a:avLst/>
          </a:prstGeom>
          <a:solidFill>
            <a:srgbClr val="7B5EA7"/>
          </a:solidFill>
          <a:ln/>
        </p:spPr>
        <p:txBody>
          <a:bodyPr/>
          <a:lstStyle/>
          <a:p>
            <a:endParaRPr lang="en-US"/>
          </a:p>
        </p:txBody>
      </p:sp>
      <p:sp>
        <p:nvSpPr>
          <p:cNvPr id="21" name="Text 19"/>
          <p:cNvSpPr/>
          <p:nvPr/>
        </p:nvSpPr>
        <p:spPr>
          <a:xfrm>
            <a:off x="731520" y="5212080"/>
            <a:ext cx="3657600" cy="365760"/>
          </a:xfrm>
          <a:prstGeom prst="rect">
            <a:avLst/>
          </a:prstGeom>
          <a:noFill/>
          <a:ln/>
        </p:spPr>
        <p:txBody>
          <a:bodyPr wrap="square" rtlCol="0" anchor="ctr"/>
          <a:lstStyle/>
          <a:p>
            <a:pPr marL="0" indent="0" algn="l">
              <a:buNone/>
            </a:pPr>
            <a:r>
              <a:rPr lang="en-US" sz="1600" b="1" dirty="0">
                <a:solidFill>
                  <a:srgbClr val="7B5EA7"/>
                </a:solidFill>
                <a:latin typeface="Segoe UI" pitchFamily="34" charset="0"/>
                <a:ea typeface="Segoe UI" pitchFamily="34" charset="-122"/>
                <a:cs typeface="Segoe UI" pitchFamily="34" charset="-120"/>
              </a:rPr>
              <a:t>Resources</a:t>
            </a:r>
            <a:endParaRPr lang="en-US" sz="1600" dirty="0"/>
          </a:p>
        </p:txBody>
      </p:sp>
      <p:sp>
        <p:nvSpPr>
          <p:cNvPr id="22" name="Text 20"/>
          <p:cNvSpPr/>
          <p:nvPr/>
        </p:nvSpPr>
        <p:spPr>
          <a:xfrm>
            <a:off x="914400" y="5577840"/>
            <a:ext cx="10058400" cy="320040"/>
          </a:xfrm>
          <a:prstGeom prst="rect">
            <a:avLst/>
          </a:prstGeom>
          <a:noFill/>
          <a:ln/>
        </p:spPr>
        <p:txBody>
          <a:bodyPr wrap="square" rtlCol="0" anchor="ctr"/>
          <a:lstStyle/>
          <a:p>
            <a:pPr marL="0" indent="0" algn="l">
              <a:buNone/>
            </a:pPr>
            <a:r>
              <a:rPr lang="en-US" sz="1100" dirty="0">
                <a:solidFill>
                  <a:srgbClr val="B8B8D0"/>
                </a:solidFill>
                <a:latin typeface="Segoe UI Light" pitchFamily="34" charset="0"/>
                <a:ea typeface="Segoe UI Light" pitchFamily="34" charset="-122"/>
                <a:cs typeface="Segoe UI Light" pitchFamily="34" charset="-120"/>
              </a:rPr>
              <a:t>•  AWS Blog: Direct Query with S3 Tables in Amazon QuickSight (May 2026)</a:t>
            </a:r>
            <a:endParaRPr lang="en-US" sz="1100" dirty="0"/>
          </a:p>
        </p:txBody>
      </p:sp>
      <p:sp>
        <p:nvSpPr>
          <p:cNvPr id="23" name="Text 21"/>
          <p:cNvSpPr/>
          <p:nvPr/>
        </p:nvSpPr>
        <p:spPr>
          <a:xfrm>
            <a:off x="914400" y="5943600"/>
            <a:ext cx="10058400" cy="320040"/>
          </a:xfrm>
          <a:prstGeom prst="rect">
            <a:avLst/>
          </a:prstGeom>
          <a:noFill/>
          <a:ln/>
        </p:spPr>
        <p:txBody>
          <a:bodyPr wrap="square" rtlCol="0" anchor="ctr"/>
          <a:lstStyle/>
          <a:p>
            <a:pPr marL="0" indent="0" algn="l">
              <a:buNone/>
            </a:pPr>
            <a:r>
              <a:rPr lang="en-US" sz="1100" dirty="0">
                <a:solidFill>
                  <a:srgbClr val="B8B8D0"/>
                </a:solidFill>
                <a:latin typeface="Segoe UI Light" pitchFamily="34" charset="0"/>
                <a:ea typeface="Segoe UI Light" pitchFamily="34" charset="-122"/>
                <a:cs typeface="Segoe UI Light" pitchFamily="34" charset="-120"/>
              </a:rPr>
              <a:t>•  AWS Blog: Real-time Fleet Tracking with IoT Core + S3 Tables (Jan 2026)</a:t>
            </a:r>
            <a:endParaRPr lang="en-US" sz="1100" dirty="0"/>
          </a:p>
        </p:txBody>
      </p:sp>
      <p:sp>
        <p:nvSpPr>
          <p:cNvPr id="24" name="Text 22"/>
          <p:cNvSpPr/>
          <p:nvPr/>
        </p:nvSpPr>
        <p:spPr>
          <a:xfrm>
            <a:off x="914400" y="6309360"/>
            <a:ext cx="10058400" cy="320040"/>
          </a:xfrm>
          <a:prstGeom prst="rect">
            <a:avLst/>
          </a:prstGeom>
          <a:noFill/>
          <a:ln/>
        </p:spPr>
        <p:txBody>
          <a:bodyPr wrap="square" rtlCol="0" anchor="ctr"/>
          <a:lstStyle/>
          <a:p>
            <a:pPr marL="0" indent="0" algn="l">
              <a:buNone/>
            </a:pPr>
            <a:r>
              <a:rPr lang="en-US" sz="1100" dirty="0">
                <a:solidFill>
                  <a:srgbClr val="B8B8D0"/>
                </a:solidFill>
                <a:latin typeface="Segoe UI Light" pitchFamily="34" charset="0"/>
                <a:ea typeface="Segoe UI Light" pitchFamily="34" charset="-122"/>
                <a:cs typeface="Segoe UI Light" pitchFamily="34" charset="-120"/>
              </a:rPr>
              <a:t>•  AWS Blog: Optimize Industrial IoT with Data Firehose + S3 Tables (Jul 2025)</a:t>
            </a:r>
            <a:endParaRPr lang="en-US" sz="1100" dirty="0"/>
          </a:p>
        </p:txBody>
      </p:sp>
      <p:sp>
        <p:nvSpPr>
          <p:cNvPr id="25" name="Text 23"/>
          <p:cNvSpPr/>
          <p:nvPr/>
        </p:nvSpPr>
        <p:spPr>
          <a:xfrm>
            <a:off x="10972800" y="6400800"/>
            <a:ext cx="914400" cy="274320"/>
          </a:xfrm>
          <a:prstGeom prst="rect">
            <a:avLst/>
          </a:prstGeom>
          <a:noFill/>
          <a:ln/>
        </p:spPr>
        <p:txBody>
          <a:bodyPr wrap="square" rtlCol="0" anchor="ctr"/>
          <a:lstStyle/>
          <a:p>
            <a:pPr marL="0" indent="0" algn="r">
              <a:buNone/>
            </a:pPr>
            <a:r>
              <a:rPr lang="en-US" sz="900" dirty="0">
                <a:solidFill>
                  <a:srgbClr val="666699"/>
                </a:solidFill>
                <a:latin typeface="Segoe UI" pitchFamily="34" charset="0"/>
                <a:ea typeface="Segoe UI" pitchFamily="34" charset="-122"/>
                <a:cs typeface="Segoe U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8429DFB-73DF-4EDE-A3DC-EF24094C854A}">
  <we:reference id="3d2b7d21-fda6-4380-b3d4-39ac6c78a05c" version="1.0.1.6" store="EXCatalog" storeType="EXCatalog"/>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1732</Words>
  <Application>Microsoft Macintosh PowerPoint</Application>
  <PresentationFormat>Custom</PresentationFormat>
  <Paragraphs>199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Consolas</vt:lpstr>
      <vt:lpstr>Segoe UI</vt:lpstr>
      <vt:lpstr>Segoe UI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Wang, Ying</cp:lastModifiedBy>
  <cp:revision>2</cp:revision>
  <dcterms:created xsi:type="dcterms:W3CDTF">2026-06-17T19:56:08Z</dcterms:created>
  <dcterms:modified xsi:type="dcterms:W3CDTF">2026-06-19T16:47:23Z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2026-06-19T16:47:23Z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87c95f94-12c0-41f5-ac75-e2ad6c35f35a</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